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4"/>
  </p:notesMasterIdLst>
  <p:sldIdLst>
    <p:sldId id="256" r:id="rId5"/>
    <p:sldId id="257" r:id="rId6"/>
    <p:sldId id="258" r:id="rId7"/>
    <p:sldId id="268" r:id="rId8"/>
    <p:sldId id="269" r:id="rId9"/>
    <p:sldId id="270" r:id="rId10"/>
    <p:sldId id="272" r:id="rId11"/>
    <p:sldId id="260" r:id="rId12"/>
    <p:sldId id="265" r:id="rId13"/>
    <p:sldId id="276" r:id="rId14"/>
    <p:sldId id="274" r:id="rId15"/>
    <p:sldId id="277" r:id="rId16"/>
    <p:sldId id="278" r:id="rId17"/>
    <p:sldId id="275" r:id="rId18"/>
    <p:sldId id="279" r:id="rId19"/>
    <p:sldId id="280" r:id="rId20"/>
    <p:sldId id="281" r:id="rId21"/>
    <p:sldId id="282" r:id="rId22"/>
    <p:sldId id="264" r:id="rId23"/>
  </p:sldIdLst>
  <p:sldSz cx="12192000" cy="6858000"/>
  <p:notesSz cx="6858000" cy="9144000"/>
  <p:embeddedFontLst>
    <p:embeddedFont>
      <p:font typeface="210 옴니고딕 025" panose="02020603020101020101" pitchFamily="18" charset="-127"/>
      <p:regular r:id="rId25"/>
    </p:embeddedFont>
    <p:embeddedFont>
      <p:font typeface="KoPubWorld돋움체 Bold" panose="020B0600000101010101" charset="-127"/>
      <p:bold r:id="rId26"/>
    </p:embeddedFont>
    <p:embeddedFont>
      <p:font typeface="KoPubWorld돋움체 Light" panose="020B0600000101010101" charset="-127"/>
      <p:regular r:id="rId27"/>
    </p:embeddedFont>
    <p:embeddedFont>
      <p:font typeface="맑은 고딕" panose="020B0503020000020004" pitchFamily="50" charset="-127"/>
      <p:regular r:id="rId28"/>
      <p:bold r:id="rId2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EE5"/>
    <a:srgbClr val="85EFE2"/>
    <a:srgbClr val="64DECF"/>
    <a:srgbClr val="36D2CE"/>
    <a:srgbClr val="FDED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390FA9-E77A-4345-ABCB-B0F76AD186D3}" v="122" dt="2025-10-10T10:15:55.1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70942" autoAdjust="0"/>
  </p:normalViewPr>
  <p:slideViewPr>
    <p:cSldViewPr snapToGrid="0">
      <p:cViewPr varScale="1">
        <p:scale>
          <a:sx n="58" d="100"/>
          <a:sy n="58" d="100"/>
        </p:scale>
        <p:origin x="16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29A81-210A-414B-ADDA-04BF1B68CDFB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FB15B-2E7B-427B-B4A4-17E4701AE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432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FB15B-2E7B-427B-B4A4-17E4701AE3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046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FB15B-2E7B-427B-B4A4-17E4701AE3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09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398E7-D61B-F95F-613C-03113AFD9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EE2A61-42D4-957B-E92B-6B0C9E0FC7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2BC4F9-0658-D90F-A460-5539416BB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47F86F-CBBB-6E47-B13C-0189BF678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FB15B-2E7B-427B-B4A4-17E4701AE3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4773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FB15B-2E7B-427B-B4A4-17E4701AE3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6767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FB15B-2E7B-427B-B4A4-17E4701AE3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1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FB15B-2E7B-427B-B4A4-17E4701AE3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401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FB15B-2E7B-427B-B4A4-17E4701AE3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664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C0548-EAD4-D60A-9B5A-D9395C231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2BD13E-8F55-4992-59DE-1A0DB59C9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466242-82AA-B4A8-C4F2-00B5ACD23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B84EA0-B09B-D0BC-AAC0-DD89857F0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FB15B-2E7B-427B-B4A4-17E4701AE35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601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FB15B-2E7B-427B-B4A4-17E4701AE35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580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28CF5-91A5-82B0-3A44-35774324D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2CD0AC-EB8B-8DA7-AD2E-286CBDEAD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35D4F3-9E67-60DB-5060-C5960DB15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C86101-80A9-0B45-7776-434E0B583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FB15B-2E7B-427B-B4A4-17E4701AE35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65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FB15B-2E7B-427B-B4A4-17E4701AE35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523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90D2F-2EE3-C523-380C-BD9EC7A81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EE0BC5-A41C-DA36-7188-D9D1A248A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D8A571-AFBC-1FB1-BFE1-DD741B705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FC86E5-F1EF-9584-4B0B-717DE7225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FB15B-2E7B-427B-B4A4-17E4701AE35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747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6866A-42CD-797D-064D-4100D45D6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5CEF63-4AE4-3918-523D-BCC78DD64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424A26-2035-BDD5-9FDE-867B6BD41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29362F-8304-78A9-4706-AA9EE7DDB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FB15B-2E7B-427B-B4A4-17E4701AE35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9500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56B8B-AFF8-BAB6-1E91-713BAB02C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B74630-6284-2F78-5AF6-CB706D7C7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6F53EB-BEEA-7A10-E9B6-68103F1CF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5AF1D5-80C1-365B-B0B3-C419CD411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FB15B-2E7B-427B-B4A4-17E4701AE35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0940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029A4-24D5-54E7-8FB7-404D3446F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C6B7B1-D549-CE02-B07F-948533613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8FBD00-2A91-24CD-4A92-DBC416301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E83E48-E246-D12D-A249-C9FFE52FA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7FB15B-2E7B-427B-B4A4-17E4701AE35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028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079F7-1BDE-401F-901E-02A90F9D2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4A9B5BF-FBB6-4901-84EE-838A7C801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4DFFE3-0837-4762-B229-764CCCFFE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78F1F-D0B8-450C-ADF5-AFBFBC138AD0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E6BB08-C6CD-4B68-A95A-C0471BC5C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DE8E12-A20E-43EB-9214-88A9924A8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455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C89C7-27CD-4A97-90B7-4DD77F727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D3DC1C-D131-4061-8930-FFA615993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13BD02-7BA8-4BBC-AA38-71F372127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5B5D8-F453-4370-BE97-8F1C9DEF3D1D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4464A4-6D4C-4C1A-9EC4-C77AE47BC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B3F6AB-1EEC-4010-A945-A2E032D1F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523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1D198-6537-4C0D-8D26-7A483A196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E50832-AFA7-4B94-8D03-2DF06D403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9E9AD6-C40C-4012-A493-9AF95255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56094-6A95-495F-94CF-B9FF1E33E172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4E0D95-BDD7-48DB-B4BC-1D3D8C68F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ABFA3E-BED5-4DF4-AB05-A59C05A73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553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B7CF12-E197-4FDA-A488-258040594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20D48C-6396-48E3-AAEA-86F028FEE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2A53D2-7AFC-4DDA-A83E-59DBFA1FB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767CE4-0D16-40CD-A0FE-6BE7FDD3E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77A36-22D9-4E57-9D02-78A11E068C6C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EA0EAF-A65C-499C-B6EE-A8B897C50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B09D08-940C-491B-9A4E-2E5B4ECE3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160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C6B6D-51B0-461F-91B1-D54732EA1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409FFA-E886-417E-BB8C-9DD5BFE48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7E042C-4BC5-4DA8-B66A-381A0422E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206237-DC12-499B-89C2-3DCAEF6FA3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D1F9D6-A934-4B3E-ABB6-519C4F5D1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461EA77-3E1C-440A-B465-759737FF6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BE4C1-5D5B-4887-B647-086740EFD9AB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57B1BF4-7D23-4FD7-ADA4-CF075E4B6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3F3A825-A101-4B66-84D9-2B71404E5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58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11E278-F75D-4660-9D08-0D3E0FE08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08FB9F-22CF-4F1C-B7E4-41201529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5330-AB71-44A1-91FD-D37B057A1623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753459-8735-432A-A77F-655AC95E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E6F224-6E76-44B8-AECB-13DF5B7D5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3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7824F4-6A1C-4395-8C7D-51776DE33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2C2E-CCB3-4719-A10E-6F86D540BB89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8D92FB-714B-4526-B6F1-CFEFF7139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CDFFFF-6B78-492F-804D-9DE2DC6B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675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89EA7-983F-4230-90A7-9085374E2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5C8B69-658D-4532-87C4-98C2FEC8D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FA0CA3-3DCF-4A98-B87D-00C628D4D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74F306-CCC9-49A0-9BFB-CBF87DF81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9B43-E842-4936-B1F0-70D93214B23C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16356C-9E73-4E64-9EB1-3990F9DD4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D31894-02AA-4561-96F6-E6F6C0E3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688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E7A0D-BB4D-432E-88A7-72A8B8FD0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BBCEC50-41F9-470E-B94D-FF1B7038FE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589834-27AD-430A-B41D-BA680E602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A17B97-91FE-4EF2-9699-D8F66FD80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0BEE-0AE5-40C2-93E5-C0FCEAFB1623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E1E57C-0C84-45F3-A201-5E0715E61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44D6F3-878A-48C0-9D2C-E2E8891A3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847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867D3-5430-410D-8400-111FBF3A3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3EBFBC-819C-4B27-88D4-D19F31499F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4A9D9D-6BCC-4978-B561-0F1AB8B6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84CE5-D883-4BBD-9E19-ABADAA1CCB65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CCF1A1-AFB2-4C48-BD45-BD42F5AC3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43E432-C59B-4658-9D89-286CE953E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96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845BC2-0329-46A5-BB1C-7A5416F4B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A021D2-C485-4A4D-8E5A-4ACEFC5E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7780D5-259F-47F0-88D5-E3ADEC053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51432-9708-46A5-9917-4C52DC0CF31D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428820-F01C-4E5C-89EB-A9762BC38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ADB37B-7CEC-4447-81E4-DD3A6DED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19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9D68312-D8C0-4AB8-AD63-279CDB62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1D770D-F22B-4D8D-86E5-378840FD8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8EA0C6-F6DF-4FD8-8E68-EC42C947E0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7FE3-880F-481F-BD18-FAD0BED429CC}" type="datetime1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EB42F0-8675-4D0B-918D-F44560B8C0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B4EEFF-1B8A-4E4B-ABD3-DD5B98FDF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B6F26-7B99-433C-A969-9457AF99F1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2772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D9D9645-2F2B-4BB1-B5BA-17C241E6CFC2}"/>
              </a:ext>
            </a:extLst>
          </p:cNvPr>
          <p:cNvSpPr/>
          <p:nvPr/>
        </p:nvSpPr>
        <p:spPr>
          <a:xfrm>
            <a:off x="0" y="0"/>
            <a:ext cx="12213771" cy="298580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D5C53C-9B19-415C-B6B8-94AEDDE075AC}"/>
              </a:ext>
            </a:extLst>
          </p:cNvPr>
          <p:cNvSpPr/>
          <p:nvPr/>
        </p:nvSpPr>
        <p:spPr>
          <a:xfrm>
            <a:off x="0" y="6559420"/>
            <a:ext cx="12213771" cy="298580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84F941-B1A5-42ED-AD78-B0F57A275C9B}"/>
              </a:ext>
            </a:extLst>
          </p:cNvPr>
          <p:cNvSpPr txBox="1"/>
          <p:nvPr/>
        </p:nvSpPr>
        <p:spPr>
          <a:xfrm>
            <a:off x="1548881" y="2692648"/>
            <a:ext cx="930262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SNN</a:t>
            </a:r>
            <a:r>
              <a:rPr lang="ko-KR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을 활용한 고효율 추천 시스템 개발 및 최적화 연구</a:t>
            </a:r>
            <a:endParaRPr lang="ko-KR" altLang="en-US" sz="4400" dirty="0">
              <a:solidFill>
                <a:schemeClr val="tx1">
                  <a:lumMod val="65000"/>
                  <a:lumOff val="35000"/>
                </a:schemeClr>
              </a:solidFill>
              <a:latin typeface="210 옴니고딕 025" panose="02020603020101020101" pitchFamily="18" charset="-127"/>
              <a:ea typeface="210 옴니고딕 025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E13764-1EF0-4A6F-8554-79E11A74BCAB}"/>
              </a:ext>
            </a:extLst>
          </p:cNvPr>
          <p:cNvSpPr txBox="1"/>
          <p:nvPr/>
        </p:nvSpPr>
        <p:spPr>
          <a:xfrm>
            <a:off x="8408762" y="5056921"/>
            <a:ext cx="23307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Bold" panose="00000800000000000000" pitchFamily="2" charset="-127"/>
              </a:rPr>
              <a:t>2020058259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Bold" panose="00000800000000000000" pitchFamily="2" charset="-127"/>
              </a:rPr>
              <a:t>이승현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210 옴니고딕 025" panose="02020603020101020101" pitchFamily="18" charset="-127"/>
              <a:ea typeface="210 옴니고딕 025" panose="020206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2020061676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이강혁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210 옴니고딕 025" panose="02020603020101020101" pitchFamily="18" charset="-127"/>
              <a:ea typeface="210 옴니고딕 025" panose="02020603020101020101" pitchFamily="18" charset="-127"/>
              <a:cs typeface="KoPubWorld돋움체 Light" panose="00000300000000000000" pitchFamily="2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B7C4BEE-6B54-C14C-0E61-42B0CB44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073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BD5C53C-9B19-415C-B6B8-94AEDDE075AC}"/>
              </a:ext>
            </a:extLst>
          </p:cNvPr>
          <p:cNvSpPr/>
          <p:nvPr/>
        </p:nvSpPr>
        <p:spPr>
          <a:xfrm>
            <a:off x="0" y="-1"/>
            <a:ext cx="12213771" cy="860932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4F2EBF-4938-45B7-8EE5-0FCC9BC096A7}"/>
              </a:ext>
            </a:extLst>
          </p:cNvPr>
          <p:cNvSpPr txBox="1"/>
          <p:nvPr/>
        </p:nvSpPr>
        <p:spPr>
          <a:xfrm>
            <a:off x="4770197" y="211748"/>
            <a:ext cx="26516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6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CONTENTS</a:t>
            </a:r>
            <a:endParaRPr lang="ko-KR" altLang="en-US" sz="2800" spc="600" dirty="0">
              <a:solidFill>
                <a:schemeClr val="bg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8468B3-2CF3-4D53-8244-09E927572F97}"/>
              </a:ext>
            </a:extLst>
          </p:cNvPr>
          <p:cNvSpPr txBox="1"/>
          <p:nvPr/>
        </p:nvSpPr>
        <p:spPr>
          <a:xfrm>
            <a:off x="7908493" y="5842337"/>
            <a:ext cx="43067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rgbClr val="64DECF">
                    <a:alpha val="16000"/>
                  </a:srgb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CONTENTS</a:t>
            </a:r>
            <a:endParaRPr lang="ko-KR" altLang="en-US" sz="6000" b="1" dirty="0">
              <a:solidFill>
                <a:srgbClr val="64DECF">
                  <a:alpha val="16000"/>
                </a:srgb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BB21E30-1CD8-46E8-A8F3-29D7BD7E4EFC}"/>
              </a:ext>
            </a:extLst>
          </p:cNvPr>
          <p:cNvGrpSpPr/>
          <p:nvPr/>
        </p:nvGrpSpPr>
        <p:grpSpPr>
          <a:xfrm>
            <a:off x="1121693" y="1645720"/>
            <a:ext cx="3180731" cy="1869451"/>
            <a:chOff x="3403338" y="2621510"/>
            <a:chExt cx="3180731" cy="1869451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B793B6E9-C890-4D5A-A71D-291AA2FC09FB}"/>
                </a:ext>
              </a:extLst>
            </p:cNvPr>
            <p:cNvGrpSpPr/>
            <p:nvPr/>
          </p:nvGrpSpPr>
          <p:grpSpPr>
            <a:xfrm>
              <a:off x="3403338" y="2621510"/>
              <a:ext cx="2359994" cy="830997"/>
              <a:chOff x="3403338" y="2621510"/>
              <a:chExt cx="2359994" cy="830997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84F941-B1A5-42ED-AD78-B0F57A275C9B}"/>
                  </a:ext>
                </a:extLst>
              </p:cNvPr>
              <p:cNvSpPr txBox="1"/>
              <p:nvPr/>
            </p:nvSpPr>
            <p:spPr>
              <a:xfrm>
                <a:off x="3403338" y="2621510"/>
                <a:ext cx="87716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4800" b="1" dirty="0">
                    <a:solidFill>
                      <a:srgbClr val="64DECF"/>
                    </a:solidFill>
                    <a:latin typeface="210 옴니고딕 025" panose="02020603020101020101" pitchFamily="18" charset="-127"/>
                    <a:ea typeface="210 옴니고딕 025" panose="02020603020101020101" pitchFamily="18" charset="-127"/>
                    <a:cs typeface="KoPubWorld돋움체 Bold" panose="00000800000000000000" pitchFamily="2" charset="-127"/>
                  </a:rPr>
                  <a:t>01</a:t>
                </a:r>
                <a:endParaRPr lang="ko-KR" altLang="en-US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E13764-1EF0-4A6F-8554-79E11A74BCAB}"/>
                  </a:ext>
                </a:extLst>
              </p:cNvPr>
              <p:cNvSpPr txBox="1"/>
              <p:nvPr/>
            </p:nvSpPr>
            <p:spPr>
              <a:xfrm>
                <a:off x="4495036" y="2780711"/>
                <a:ext cx="12682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210 옴니고딕 025" panose="02020603020101020101" pitchFamily="18" charset="-127"/>
                    <a:ea typeface="210 옴니고딕 025" panose="02020603020101020101" pitchFamily="18" charset="-127"/>
                    <a:cs typeface="KoPubWorld돋움체 Bold" panose="00000800000000000000" pitchFamily="2" charset="-127"/>
                  </a:rPr>
                  <a:t>연구 소개</a:t>
                </a:r>
                <a:endParaRPr lang="ko-KR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Light" panose="00000300000000000000" pitchFamily="2" charset="-127"/>
                </a:endParaRPr>
              </a:p>
            </p:txBody>
          </p:sp>
        </p:grp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3A5AF55B-2B72-4D64-9D81-C0FF482732D7}"/>
                </a:ext>
              </a:extLst>
            </p:cNvPr>
            <p:cNvGrpSpPr/>
            <p:nvPr/>
          </p:nvGrpSpPr>
          <p:grpSpPr>
            <a:xfrm>
              <a:off x="3403338" y="3659964"/>
              <a:ext cx="3180731" cy="830997"/>
              <a:chOff x="3403338" y="3659964"/>
              <a:chExt cx="3180731" cy="830997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21C3A4C-9A1E-4998-B64C-27B322E1FB56}"/>
                  </a:ext>
                </a:extLst>
              </p:cNvPr>
              <p:cNvSpPr txBox="1"/>
              <p:nvPr/>
            </p:nvSpPr>
            <p:spPr>
              <a:xfrm>
                <a:off x="3403338" y="3659964"/>
                <a:ext cx="94769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4800" b="1" dirty="0">
                    <a:solidFill>
                      <a:srgbClr val="64DECF"/>
                    </a:solidFill>
                    <a:latin typeface="210 옴니고딕 025" panose="02020603020101020101" pitchFamily="18" charset="-127"/>
                    <a:ea typeface="210 옴니고딕 025" panose="02020603020101020101" pitchFamily="18" charset="-127"/>
                    <a:cs typeface="KoPubWorld돋움체 Bold" panose="00000800000000000000" pitchFamily="2" charset="-127"/>
                  </a:rPr>
                  <a:t>02</a:t>
                </a:r>
                <a:endParaRPr lang="ko-KR" altLang="en-US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D65EA8-75FC-4381-8F1B-C7736D8545B7}"/>
                  </a:ext>
                </a:extLst>
              </p:cNvPr>
              <p:cNvSpPr txBox="1"/>
              <p:nvPr/>
            </p:nvSpPr>
            <p:spPr>
              <a:xfrm>
                <a:off x="4495036" y="3893978"/>
                <a:ext cx="20890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210 옴니고딕 025" panose="02020603020101020101" pitchFamily="18" charset="-127"/>
                    <a:ea typeface="210 옴니고딕 025" panose="02020603020101020101" pitchFamily="18" charset="-127"/>
                    <a:cs typeface="KoPubWorld돋움체 Bold" panose="00000800000000000000" pitchFamily="2" charset="-127"/>
                  </a:rPr>
                  <a:t>연구 배경과 논리</a:t>
                </a:r>
                <a:endParaRPr lang="ko-KR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Light" panose="00000300000000000000" pitchFamily="2" charset="-127"/>
                </a:endParaRPr>
              </a:p>
            </p:txBody>
          </p:sp>
        </p:grp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510A0C2-7056-4128-9CFF-35AD6D14E6E9}"/>
              </a:ext>
            </a:extLst>
          </p:cNvPr>
          <p:cNvGrpSpPr/>
          <p:nvPr/>
        </p:nvGrpSpPr>
        <p:grpSpPr>
          <a:xfrm>
            <a:off x="1121693" y="3722628"/>
            <a:ext cx="3829948" cy="1919331"/>
            <a:chOff x="3403338" y="2598003"/>
            <a:chExt cx="3829948" cy="1919331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308CA84-006B-484A-8754-1324C45CC9BF}"/>
                </a:ext>
              </a:extLst>
            </p:cNvPr>
            <p:cNvGrpSpPr/>
            <p:nvPr/>
          </p:nvGrpSpPr>
          <p:grpSpPr>
            <a:xfrm>
              <a:off x="3403338" y="2598003"/>
              <a:ext cx="3191953" cy="830997"/>
              <a:chOff x="3403338" y="2598003"/>
              <a:chExt cx="3191953" cy="830997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0CFC9F3-8653-43AE-9477-2C2433CDFB7C}"/>
                  </a:ext>
                </a:extLst>
              </p:cNvPr>
              <p:cNvSpPr txBox="1"/>
              <p:nvPr/>
            </p:nvSpPr>
            <p:spPr>
              <a:xfrm>
                <a:off x="3403338" y="2598003"/>
                <a:ext cx="94769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4800" b="1" dirty="0">
                    <a:solidFill>
                      <a:srgbClr val="64DECF"/>
                    </a:solidFill>
                    <a:latin typeface="210 옴니고딕 025" panose="02020603020101020101" pitchFamily="18" charset="-127"/>
                    <a:ea typeface="210 옴니고딕 025" panose="02020603020101020101" pitchFamily="18" charset="-127"/>
                    <a:cs typeface="KoPubWorld돋움체 Bold" panose="00000800000000000000" pitchFamily="2" charset="-127"/>
                  </a:rPr>
                  <a:t>03</a:t>
                </a:r>
                <a:endParaRPr lang="ko-KR" altLang="en-US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5E7C0A-107D-42CB-B9CD-E10345F601C6}"/>
                  </a:ext>
                </a:extLst>
              </p:cNvPr>
              <p:cNvSpPr txBox="1"/>
              <p:nvPr/>
            </p:nvSpPr>
            <p:spPr>
              <a:xfrm>
                <a:off x="4495036" y="2818738"/>
                <a:ext cx="21002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210 옴니고딕 025" panose="02020603020101020101" pitchFamily="18" charset="-127"/>
                    <a:ea typeface="210 옴니고딕 025" panose="02020603020101020101" pitchFamily="18" charset="-127"/>
                    <a:cs typeface="KoPubWorld돋움체 Bold" panose="00000800000000000000" pitchFamily="2" charset="-127"/>
                  </a:rPr>
                  <a:t>암시적 데이터셋</a:t>
                </a:r>
                <a:endParaRPr lang="ko-KR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Light" panose="00000300000000000000" pitchFamily="2" charset="-127"/>
                </a:endParaRP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1EB5D733-A69C-4097-BE69-B9D246267EE9}"/>
                </a:ext>
              </a:extLst>
            </p:cNvPr>
            <p:cNvGrpSpPr/>
            <p:nvPr/>
          </p:nvGrpSpPr>
          <p:grpSpPr>
            <a:xfrm>
              <a:off x="3403338" y="3686337"/>
              <a:ext cx="3829948" cy="830997"/>
              <a:chOff x="3403338" y="3686337"/>
              <a:chExt cx="3829948" cy="830997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F74EE2F-A74E-4E1E-9CEB-30D4C6E6FA83}"/>
                  </a:ext>
                </a:extLst>
              </p:cNvPr>
              <p:cNvSpPr txBox="1"/>
              <p:nvPr/>
            </p:nvSpPr>
            <p:spPr>
              <a:xfrm>
                <a:off x="3403338" y="3686337"/>
                <a:ext cx="94769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4800" b="1" dirty="0">
                    <a:solidFill>
                      <a:srgbClr val="64DECF"/>
                    </a:solidFill>
                    <a:latin typeface="210 옴니고딕 025" panose="02020603020101020101" pitchFamily="18" charset="-127"/>
                    <a:ea typeface="210 옴니고딕 025" panose="02020603020101020101" pitchFamily="18" charset="-127"/>
                    <a:cs typeface="KoPubWorld돋움체 Bold" panose="00000800000000000000" pitchFamily="2" charset="-127"/>
                  </a:rPr>
                  <a:t>04</a:t>
                </a:r>
                <a:endParaRPr lang="ko-KR" altLang="en-US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B3CB60C-CD34-4E14-914C-4591010964E0}"/>
                  </a:ext>
                </a:extLst>
              </p:cNvPr>
              <p:cNvSpPr txBox="1"/>
              <p:nvPr/>
            </p:nvSpPr>
            <p:spPr>
              <a:xfrm>
                <a:off x="4495036" y="3932558"/>
                <a:ext cx="27382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210 옴니고딕 025" panose="02020603020101020101" pitchFamily="18" charset="-127"/>
                    <a:ea typeface="210 옴니고딕 025" panose="02020603020101020101" pitchFamily="18" charset="-127"/>
                    <a:cs typeface="KoPubWorld돋움체 Bold" panose="00000800000000000000" pitchFamily="2" charset="-127"/>
                  </a:rPr>
                  <a:t>변화 친화적 </a:t>
                </a:r>
                <a:r>
                  <a:rPr lang="en-US" altLang="ko-K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210 옴니고딕 025" panose="02020603020101020101" pitchFamily="18" charset="-127"/>
                    <a:ea typeface="210 옴니고딕 025" panose="02020603020101020101" pitchFamily="18" charset="-127"/>
                    <a:cs typeface="KoPubWorld돋움체 Bold" panose="00000800000000000000" pitchFamily="2" charset="-127"/>
                  </a:rPr>
                  <a:t>ANN </a:t>
                </a:r>
                <a:r>
                  <a:rPr lang="ko-KR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210 옴니고딕 025" panose="02020603020101020101" pitchFamily="18" charset="-127"/>
                    <a:ea typeface="210 옴니고딕 025" panose="02020603020101020101" pitchFamily="18" charset="-127"/>
                    <a:cs typeface="KoPubWorld돋움체 Bold" panose="00000800000000000000" pitchFamily="2" charset="-127"/>
                  </a:rPr>
                  <a:t>설계</a:t>
                </a:r>
                <a:endParaRPr lang="ko-KR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Light" panose="00000300000000000000" pitchFamily="2" charset="-127"/>
                </a:endParaRPr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38D1C45C-41C8-7F3D-54E1-549AA15F1C72}"/>
              </a:ext>
            </a:extLst>
          </p:cNvPr>
          <p:cNvGrpSpPr/>
          <p:nvPr/>
        </p:nvGrpSpPr>
        <p:grpSpPr>
          <a:xfrm>
            <a:off x="7068403" y="1720135"/>
            <a:ext cx="2406482" cy="1869451"/>
            <a:chOff x="3403338" y="2621510"/>
            <a:chExt cx="2406482" cy="1869451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9F1D98D-9A75-305C-B1BB-53A4E1C66A16}"/>
                </a:ext>
              </a:extLst>
            </p:cNvPr>
            <p:cNvGrpSpPr/>
            <p:nvPr/>
          </p:nvGrpSpPr>
          <p:grpSpPr>
            <a:xfrm>
              <a:off x="3403338" y="2621510"/>
              <a:ext cx="2406482" cy="830997"/>
              <a:chOff x="3403338" y="2621510"/>
              <a:chExt cx="2406482" cy="830997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752502E-8C96-74FF-55EB-EEA2CFAE83E6}"/>
                  </a:ext>
                </a:extLst>
              </p:cNvPr>
              <p:cNvSpPr txBox="1"/>
              <p:nvPr/>
            </p:nvSpPr>
            <p:spPr>
              <a:xfrm>
                <a:off x="3403338" y="2621510"/>
                <a:ext cx="94769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4800" b="1" dirty="0">
                    <a:solidFill>
                      <a:srgbClr val="64DECF"/>
                    </a:solidFill>
                    <a:latin typeface="210 옴니고딕 025" panose="02020603020101020101" pitchFamily="18" charset="-127"/>
                    <a:ea typeface="210 옴니고딕 025" panose="02020603020101020101" pitchFamily="18" charset="-127"/>
                    <a:cs typeface="KoPubWorld돋움체 Bold" panose="00000800000000000000" pitchFamily="2" charset="-127"/>
                  </a:rPr>
                  <a:t>05</a:t>
                </a:r>
                <a:endParaRPr lang="ko-KR" altLang="en-US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61C79CB-324E-198B-A7A1-45572FB4EB8D}"/>
                  </a:ext>
                </a:extLst>
              </p:cNvPr>
              <p:cNvSpPr txBox="1"/>
              <p:nvPr/>
            </p:nvSpPr>
            <p:spPr>
              <a:xfrm>
                <a:off x="4495036" y="2780711"/>
                <a:ext cx="131478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210 옴니고딕 025" panose="02020603020101020101" pitchFamily="18" charset="-127"/>
                    <a:ea typeface="210 옴니고딕 025" panose="02020603020101020101" pitchFamily="18" charset="-127"/>
                    <a:cs typeface="KoPubWorld돋움체 Light" panose="00000300000000000000" pitchFamily="2" charset="-127"/>
                  </a:rPr>
                  <a:t>ANN </a:t>
                </a:r>
                <a:r>
                  <a:rPr lang="ko-KR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210 옴니고딕 025" panose="02020603020101020101" pitchFamily="18" charset="-127"/>
                    <a:ea typeface="210 옴니고딕 025" panose="02020603020101020101" pitchFamily="18" charset="-127"/>
                    <a:cs typeface="KoPubWorld돋움체 Light" panose="00000300000000000000" pitchFamily="2" charset="-127"/>
                  </a:rPr>
                  <a:t>학습</a:t>
                </a: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87F93301-DAED-3D98-1EC8-0229AD5B3BD0}"/>
                </a:ext>
              </a:extLst>
            </p:cNvPr>
            <p:cNvGrpSpPr/>
            <p:nvPr/>
          </p:nvGrpSpPr>
          <p:grpSpPr>
            <a:xfrm>
              <a:off x="3403338" y="3659964"/>
              <a:ext cx="1829400" cy="830997"/>
              <a:chOff x="3403338" y="3659964"/>
              <a:chExt cx="1829400" cy="830997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DDFF00-B498-2908-E180-024BFDCB0093}"/>
                  </a:ext>
                </a:extLst>
              </p:cNvPr>
              <p:cNvSpPr txBox="1"/>
              <p:nvPr/>
            </p:nvSpPr>
            <p:spPr>
              <a:xfrm>
                <a:off x="3403338" y="3659964"/>
                <a:ext cx="94769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4800" b="1" dirty="0">
                    <a:solidFill>
                      <a:srgbClr val="64DECF"/>
                    </a:solidFill>
                    <a:latin typeface="210 옴니고딕 025" panose="02020603020101020101" pitchFamily="18" charset="-127"/>
                    <a:ea typeface="210 옴니고딕 025" panose="02020603020101020101" pitchFamily="18" charset="-127"/>
                    <a:cs typeface="KoPubWorld돋움체 Bold" panose="00000800000000000000" pitchFamily="2" charset="-127"/>
                  </a:rPr>
                  <a:t>06</a:t>
                </a:r>
                <a:endParaRPr lang="ko-KR" altLang="en-US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A63036-91FA-9F2E-DE70-E454B2DE9989}"/>
                  </a:ext>
                </a:extLst>
              </p:cNvPr>
              <p:cNvSpPr txBox="1"/>
              <p:nvPr/>
            </p:nvSpPr>
            <p:spPr>
              <a:xfrm>
                <a:off x="4495036" y="3893978"/>
                <a:ext cx="73770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210 옴니고딕 025" panose="02020603020101020101" pitchFamily="18" charset="-127"/>
                    <a:ea typeface="210 옴니고딕 025" panose="02020603020101020101" pitchFamily="18" charset="-127"/>
                    <a:cs typeface="KoPubWorld돋움체 Light" panose="00000300000000000000" pitchFamily="2" charset="-127"/>
                  </a:rPr>
                  <a:t>SNN</a:t>
                </a:r>
                <a:endParaRPr lang="ko-KR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Light" panose="00000300000000000000" pitchFamily="2" charset="-127"/>
                </a:endParaRPr>
              </a:p>
            </p:txBody>
          </p:sp>
        </p:grp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AE73848-DD51-BC3A-7755-CCB6D593F507}"/>
              </a:ext>
            </a:extLst>
          </p:cNvPr>
          <p:cNvGrpSpPr/>
          <p:nvPr/>
        </p:nvGrpSpPr>
        <p:grpSpPr>
          <a:xfrm>
            <a:off x="7068403" y="3797043"/>
            <a:ext cx="3693692" cy="1919331"/>
            <a:chOff x="3403338" y="2598003"/>
            <a:chExt cx="3693692" cy="1919331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CD1623D-E3ED-FFB1-CA3A-621A90BFD414}"/>
                </a:ext>
              </a:extLst>
            </p:cNvPr>
            <p:cNvGrpSpPr/>
            <p:nvPr/>
          </p:nvGrpSpPr>
          <p:grpSpPr>
            <a:xfrm>
              <a:off x="3403338" y="2598003"/>
              <a:ext cx="3693692" cy="830997"/>
              <a:chOff x="3403338" y="2598003"/>
              <a:chExt cx="3693692" cy="830997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A6F874E-5963-0D4B-4DB0-A3DFB50AC29B}"/>
                  </a:ext>
                </a:extLst>
              </p:cNvPr>
              <p:cNvSpPr txBox="1"/>
              <p:nvPr/>
            </p:nvSpPr>
            <p:spPr>
              <a:xfrm>
                <a:off x="3403338" y="2598003"/>
                <a:ext cx="94769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4800" b="1" dirty="0">
                    <a:solidFill>
                      <a:srgbClr val="64DECF"/>
                    </a:solidFill>
                    <a:latin typeface="210 옴니고딕 025" panose="02020603020101020101" pitchFamily="18" charset="-127"/>
                    <a:ea typeface="210 옴니고딕 025" panose="02020603020101020101" pitchFamily="18" charset="-127"/>
                    <a:cs typeface="KoPubWorld돋움체 Bold" panose="00000800000000000000" pitchFamily="2" charset="-127"/>
                  </a:rPr>
                  <a:t>07</a:t>
                </a:r>
                <a:endParaRPr lang="ko-KR" altLang="en-US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1130B97-79B2-AF8D-C5CC-AFB7FB8E3BE2}"/>
                  </a:ext>
                </a:extLst>
              </p:cNvPr>
              <p:cNvSpPr txBox="1"/>
              <p:nvPr/>
            </p:nvSpPr>
            <p:spPr>
              <a:xfrm>
                <a:off x="4495036" y="2818738"/>
                <a:ext cx="260199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210 옴니고딕 025" panose="02020603020101020101" pitchFamily="18" charset="-127"/>
                    <a:ea typeface="210 옴니고딕 025" panose="02020603020101020101" pitchFamily="18" charset="-127"/>
                    <a:cs typeface="KoPubWorld돋움체 Bold" panose="00000800000000000000" pitchFamily="2" charset="-127"/>
                  </a:rPr>
                  <a:t>평가 프로토콜과 지표</a:t>
                </a:r>
                <a:endParaRPr lang="ko-KR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Light" panose="00000300000000000000" pitchFamily="2" charset="-127"/>
                </a:endParaRP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740CF3E5-4451-4DB5-362A-FB42C9943E82}"/>
                </a:ext>
              </a:extLst>
            </p:cNvPr>
            <p:cNvGrpSpPr/>
            <p:nvPr/>
          </p:nvGrpSpPr>
          <p:grpSpPr>
            <a:xfrm>
              <a:off x="3403338" y="3686337"/>
              <a:ext cx="2348773" cy="830997"/>
              <a:chOff x="3403338" y="3686337"/>
              <a:chExt cx="2348773" cy="830997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667472A-EF38-BB7B-1FB2-0A3F229EB7D6}"/>
                  </a:ext>
                </a:extLst>
              </p:cNvPr>
              <p:cNvSpPr txBox="1"/>
              <p:nvPr/>
            </p:nvSpPr>
            <p:spPr>
              <a:xfrm>
                <a:off x="3403338" y="3686337"/>
                <a:ext cx="94769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4800" b="1" dirty="0">
                    <a:solidFill>
                      <a:srgbClr val="64DECF"/>
                    </a:solidFill>
                    <a:latin typeface="210 옴니고딕 025" panose="02020603020101020101" pitchFamily="18" charset="-127"/>
                    <a:ea typeface="210 옴니고딕 025" panose="02020603020101020101" pitchFamily="18" charset="-127"/>
                    <a:cs typeface="KoPubWorld돋움체 Bold" panose="00000800000000000000" pitchFamily="2" charset="-127"/>
                  </a:rPr>
                  <a:t>08</a:t>
                </a:r>
                <a:endParaRPr lang="ko-KR" altLang="en-US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C716500-6F84-A943-9BBC-AA6999A13E23}"/>
                  </a:ext>
                </a:extLst>
              </p:cNvPr>
              <p:cNvSpPr txBox="1"/>
              <p:nvPr/>
            </p:nvSpPr>
            <p:spPr>
              <a:xfrm>
                <a:off x="4495036" y="3932558"/>
                <a:ext cx="12570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210 옴니고딕 025" panose="02020603020101020101" pitchFamily="18" charset="-127"/>
                    <a:ea typeface="210 옴니고딕 025" panose="02020603020101020101" pitchFamily="18" charset="-127"/>
                    <a:cs typeface="KoPubWorld돋움체 Bold" panose="00000800000000000000" pitchFamily="2" charset="-127"/>
                  </a:rPr>
                  <a:t>결과 분석</a:t>
                </a:r>
                <a:endParaRPr lang="ko-KR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Light" panose="00000300000000000000" pitchFamily="2" charset="-127"/>
                </a:endParaRPr>
              </a:p>
            </p:txBody>
          </p:sp>
        </p:grpSp>
      </p:grpSp>
      <p:sp>
        <p:nvSpPr>
          <p:cNvPr id="33" name="슬라이드 번호 개체 틀 32">
            <a:extLst>
              <a:ext uri="{FF2B5EF4-FFF2-40B4-BE49-F238E27FC236}">
                <a16:creationId xmlns:a16="http://schemas.microsoft.com/office/drawing/2014/main" id="{3BDFC650-3D44-50D8-4192-2BEE0B245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863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505D9C9E-8325-4A59-BEFC-3BC22C85BDAD}"/>
              </a:ext>
            </a:extLst>
          </p:cNvPr>
          <p:cNvSpPr/>
          <p:nvPr/>
        </p:nvSpPr>
        <p:spPr>
          <a:xfrm flipV="1">
            <a:off x="557400" y="1001162"/>
            <a:ext cx="11077200" cy="18000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B0813F0-0608-43A3-9E53-0BA015EDE231}"/>
              </a:ext>
            </a:extLst>
          </p:cNvPr>
          <p:cNvGrpSpPr/>
          <p:nvPr/>
        </p:nvGrpSpPr>
        <p:grpSpPr>
          <a:xfrm>
            <a:off x="672680" y="202332"/>
            <a:ext cx="4136614" cy="830997"/>
            <a:chOff x="3819245" y="188165"/>
            <a:chExt cx="4136614" cy="8309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D0033C3-456D-4151-9AAB-F0A2E961A5B6}"/>
                </a:ext>
              </a:extLst>
            </p:cNvPr>
            <p:cNvSpPr/>
            <p:nvPr/>
          </p:nvSpPr>
          <p:spPr>
            <a:xfrm>
              <a:off x="4758569" y="302276"/>
              <a:ext cx="319729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연구 소개 </a:t>
              </a:r>
              <a:r>
                <a:rPr lang="en-US" altLang="ko-KR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- </a:t>
              </a:r>
              <a:r>
                <a:rPr lang="ko-KR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목표</a:t>
              </a:r>
              <a:endParaRPr lang="ko-KR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841637C-F02D-4ED4-9B17-10A92FFC6619}"/>
                </a:ext>
              </a:extLst>
            </p:cNvPr>
            <p:cNvSpPr txBox="1"/>
            <p:nvPr/>
          </p:nvSpPr>
          <p:spPr>
            <a:xfrm>
              <a:off x="3819245" y="188165"/>
              <a:ext cx="87716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01</a:t>
              </a:r>
              <a:endParaRPr lang="ko-KR" altLang="en-US" sz="4800" b="1" dirty="0">
                <a:solidFill>
                  <a:srgbClr val="64DEC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A8577D6-AC38-267B-1EAE-D6EE18788400}"/>
              </a:ext>
            </a:extLst>
          </p:cNvPr>
          <p:cNvSpPr txBox="1"/>
          <p:nvPr/>
        </p:nvSpPr>
        <p:spPr>
          <a:xfrm>
            <a:off x="557400" y="2291785"/>
            <a:ext cx="10746974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암시적 피드백 기반 추천 모델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</a:t>
            </a:r>
            <a:r>
              <a:rPr lang="en-US" altLang="ko-KR" sz="20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NeuMF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/NCF)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을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SNN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으로 변환하여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랭킹 성능을 유지하면서 시간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·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에너지 효율을 개선하는 실용 파이프라인을 제시한다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.</a:t>
            </a:r>
            <a:endParaRPr lang="en-US" altLang="ko-KR" sz="2000" i="0" dirty="0">
              <a:solidFill>
                <a:srgbClr val="0F0F0F"/>
              </a:solidFill>
              <a:effectLst/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F05416-1454-9AC5-0B69-B9A3116BCD7A}"/>
              </a:ext>
            </a:extLst>
          </p:cNvPr>
          <p:cNvSpPr txBox="1"/>
          <p:nvPr/>
        </p:nvSpPr>
        <p:spPr>
          <a:xfrm>
            <a:off x="557400" y="4077619"/>
            <a:ext cx="11077200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하드웨어 실측 없이 성능과 전력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지연 중심으로 효율을 정량적으로 입증한다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. </a:t>
            </a:r>
            <a:endParaRPr lang="en-US" altLang="ko-KR" sz="2000" i="0" dirty="0">
              <a:solidFill>
                <a:srgbClr val="0F0F0F"/>
              </a:solidFill>
              <a:effectLst/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DB2E4D0-3D12-DBDF-E5F9-191FAF8C6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226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0BACA-42E2-6F81-78D2-95664884E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3FAA23D8-A4CA-9F29-D84E-2B0EFAED4015}"/>
              </a:ext>
            </a:extLst>
          </p:cNvPr>
          <p:cNvSpPr/>
          <p:nvPr/>
        </p:nvSpPr>
        <p:spPr>
          <a:xfrm flipV="1">
            <a:off x="557400" y="1001162"/>
            <a:ext cx="11077200" cy="18000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3AFFD59-FDAB-7756-2F82-677D03877406}"/>
              </a:ext>
            </a:extLst>
          </p:cNvPr>
          <p:cNvGrpSpPr/>
          <p:nvPr/>
        </p:nvGrpSpPr>
        <p:grpSpPr>
          <a:xfrm>
            <a:off x="672679" y="202332"/>
            <a:ext cx="4418915" cy="1191329"/>
            <a:chOff x="3819245" y="188165"/>
            <a:chExt cx="4007053" cy="119132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1351F19-CF32-358B-6AC7-0AF48EFA97D5}"/>
                </a:ext>
              </a:extLst>
            </p:cNvPr>
            <p:cNvSpPr/>
            <p:nvPr/>
          </p:nvSpPr>
          <p:spPr>
            <a:xfrm>
              <a:off x="4629008" y="302276"/>
              <a:ext cx="3197290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연구 소개 </a:t>
              </a:r>
              <a:r>
                <a:rPr lang="en-US" altLang="ko-KR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- SNN</a:t>
              </a:r>
              <a:endParaRPr lang="ko-KR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50DAFD1-F98A-E71A-22C7-0A170283C07E}"/>
                </a:ext>
              </a:extLst>
            </p:cNvPr>
            <p:cNvSpPr txBox="1"/>
            <p:nvPr/>
          </p:nvSpPr>
          <p:spPr>
            <a:xfrm>
              <a:off x="3819245" y="188165"/>
              <a:ext cx="87716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01</a:t>
              </a:r>
              <a:endParaRPr lang="ko-KR" altLang="en-US" sz="4800" b="1" dirty="0">
                <a:solidFill>
                  <a:srgbClr val="64DEC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Bold" panose="00000800000000000000" pitchFamily="2" charset="-127"/>
              </a:endParaRPr>
            </a:p>
          </p:txBody>
        </p:sp>
      </p:grpSp>
      <p:pic>
        <p:nvPicPr>
          <p:cNvPr id="3" name="Google Shape;73;p14">
            <a:extLst>
              <a:ext uri="{FF2B5EF4-FFF2-40B4-BE49-F238E27FC236}">
                <a16:creationId xmlns:a16="http://schemas.microsoft.com/office/drawing/2014/main" id="{8F799661-11E9-A481-2355-8D5AC1CB882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679" y="2078380"/>
            <a:ext cx="3716941" cy="356556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2;p14">
            <a:extLst>
              <a:ext uri="{FF2B5EF4-FFF2-40B4-BE49-F238E27FC236}">
                <a16:creationId xmlns:a16="http://schemas.microsoft.com/office/drawing/2014/main" id="{B84B88C6-2B55-ECB9-CC7F-707CAB85F2F3}"/>
              </a:ext>
            </a:extLst>
          </p:cNvPr>
          <p:cNvSpPr txBox="1">
            <a:spLocks/>
          </p:cNvSpPr>
          <p:nvPr/>
        </p:nvSpPr>
        <p:spPr>
          <a:xfrm>
            <a:off x="4871284" y="1204544"/>
            <a:ext cx="7126505" cy="506562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0000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</a:t>
            </a:r>
            <a:r>
              <a:rPr lang="en-US" altLang="ko-KR" sz="2000" dirty="0">
                <a:solidFill>
                  <a:srgbClr val="000000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SNN</a:t>
            </a:r>
            <a:r>
              <a:rPr lang="ko-KR" altLang="en-US" sz="2000" dirty="0">
                <a:solidFill>
                  <a:srgbClr val="000000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은 다른 딥러닝 모델보다 생물의 신경망에 더 가깝게 모방한 모델로</a:t>
            </a:r>
            <a:r>
              <a:rPr lang="en-US" altLang="ko-KR" sz="2000" dirty="0">
                <a:solidFill>
                  <a:srgbClr val="000000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생물의 뉴런과 같이 특정 </a:t>
            </a:r>
            <a:r>
              <a:rPr lang="ko-KR" altLang="en-US" sz="2000" dirty="0" err="1">
                <a:solidFill>
                  <a:srgbClr val="000000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임계값을</a:t>
            </a:r>
            <a:r>
              <a:rPr lang="ko-KR" altLang="en-US" sz="2000" dirty="0">
                <a:solidFill>
                  <a:srgbClr val="000000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초과할 때만 “</a:t>
            </a:r>
            <a:r>
              <a:rPr lang="en-US" altLang="ko-KR" sz="2000" dirty="0">
                <a:solidFill>
                  <a:srgbClr val="000000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Spike”</a:t>
            </a:r>
            <a:r>
              <a:rPr lang="ko-KR" altLang="en-US" sz="2000" dirty="0">
                <a:solidFill>
                  <a:srgbClr val="000000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라고 부르는 출력을 생성하는 이벤트 기반 모델입니다</a:t>
            </a:r>
            <a:r>
              <a:rPr lang="en-US" altLang="ko-KR" sz="2000" dirty="0">
                <a:solidFill>
                  <a:srgbClr val="000000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solidFill>
                <a:srgbClr val="000000"/>
              </a:solidFill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000000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장단점</a:t>
            </a:r>
            <a:endParaRPr lang="en-US" altLang="ko-KR" sz="2000" dirty="0">
              <a:solidFill>
                <a:srgbClr val="000000"/>
              </a:solidFill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rgbClr val="000000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장점</a:t>
            </a:r>
            <a:r>
              <a:rPr lang="en-US" altLang="ko-KR" sz="2000" dirty="0">
                <a:solidFill>
                  <a:srgbClr val="000000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: </a:t>
            </a:r>
            <a:r>
              <a:rPr lang="ko-KR" altLang="en-US" sz="2000" dirty="0">
                <a:solidFill>
                  <a:srgbClr val="000000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에너지 효율</a:t>
            </a:r>
            <a:endParaRPr lang="en-US" altLang="ko-KR" sz="2000" dirty="0">
              <a:solidFill>
                <a:srgbClr val="000000"/>
              </a:solidFill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rgbClr val="000000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단점</a:t>
            </a:r>
            <a:r>
              <a:rPr lang="en-US" altLang="ko-KR" sz="2000" dirty="0">
                <a:solidFill>
                  <a:srgbClr val="000000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: </a:t>
            </a:r>
            <a:r>
              <a:rPr lang="ko-KR" altLang="en-US" sz="2000" dirty="0">
                <a:solidFill>
                  <a:srgbClr val="000000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효과적인 학습방법 부재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ko-KR" altLang="en-US" sz="2000" dirty="0">
              <a:solidFill>
                <a:srgbClr val="000000"/>
              </a:solidFill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endParaRPr lang="ko-KR" altLang="en-US" sz="2000" dirty="0">
              <a:solidFill>
                <a:srgbClr val="000000"/>
              </a:solidFill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22FBBC5-B452-51EE-7BAD-54717FCE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155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FD647-DEB1-27C8-D240-2BB3F8932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1F4D9A56-FF6A-02AC-D785-8027682EC3DB}"/>
              </a:ext>
            </a:extLst>
          </p:cNvPr>
          <p:cNvSpPr/>
          <p:nvPr/>
        </p:nvSpPr>
        <p:spPr>
          <a:xfrm flipV="1">
            <a:off x="557400" y="1001162"/>
            <a:ext cx="11077200" cy="18000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1CC526D-3E5D-3B70-31FE-BBC2D711DCBC}"/>
              </a:ext>
            </a:extLst>
          </p:cNvPr>
          <p:cNvGrpSpPr/>
          <p:nvPr/>
        </p:nvGrpSpPr>
        <p:grpSpPr>
          <a:xfrm>
            <a:off x="672680" y="202332"/>
            <a:ext cx="8728478" cy="830997"/>
            <a:chOff x="3819245" y="188165"/>
            <a:chExt cx="3544766" cy="8309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72597C3-70EC-E27F-C2DB-07DD01216D56}"/>
                </a:ext>
              </a:extLst>
            </p:cNvPr>
            <p:cNvSpPr/>
            <p:nvPr/>
          </p:nvSpPr>
          <p:spPr>
            <a:xfrm>
              <a:off x="4166721" y="302276"/>
              <a:ext cx="319729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연구 소개 </a:t>
              </a:r>
              <a:r>
                <a:rPr lang="en-US" altLang="ko-KR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– </a:t>
              </a:r>
              <a:r>
                <a:rPr lang="ko-KR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연구 범위 및 데이터셋 설정</a:t>
              </a:r>
              <a:endParaRPr lang="ko-KR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DE2FC9E-577C-DDF6-4C65-A6EEC66FBD95}"/>
                </a:ext>
              </a:extLst>
            </p:cNvPr>
            <p:cNvSpPr txBox="1"/>
            <p:nvPr/>
          </p:nvSpPr>
          <p:spPr>
            <a:xfrm>
              <a:off x="3819245" y="188165"/>
              <a:ext cx="87716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01</a:t>
              </a:r>
              <a:endParaRPr lang="ko-KR" altLang="en-US" sz="4800" b="1" dirty="0">
                <a:solidFill>
                  <a:srgbClr val="64DEC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2C0A76D-1CBD-FBA7-1A31-6DEF703F5B96}"/>
              </a:ext>
            </a:extLst>
          </p:cNvPr>
          <p:cNvSpPr txBox="1"/>
          <p:nvPr/>
        </p:nvSpPr>
        <p:spPr>
          <a:xfrm>
            <a:off x="913441" y="4657493"/>
            <a:ext cx="10891593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0F0F0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실제 서비스는 평점보다 클릭</a:t>
            </a:r>
            <a:r>
              <a:rPr lang="en-US" altLang="ko-KR" sz="2000" dirty="0">
                <a:solidFill>
                  <a:srgbClr val="0F0F0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dirty="0">
                <a:solidFill>
                  <a:srgbClr val="0F0F0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장바구니</a:t>
            </a:r>
            <a:r>
              <a:rPr lang="en-US" altLang="ko-KR" sz="2000" dirty="0">
                <a:solidFill>
                  <a:srgbClr val="0F0F0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dirty="0">
                <a:solidFill>
                  <a:srgbClr val="0F0F0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구매와 같은 암시적 피드백이 대다수이며</a:t>
            </a:r>
            <a:r>
              <a:rPr lang="en-US" altLang="ko-KR" sz="2000" dirty="0">
                <a:solidFill>
                  <a:srgbClr val="0F0F0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dirty="0">
                <a:solidFill>
                  <a:srgbClr val="0F0F0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대규모</a:t>
            </a:r>
            <a:r>
              <a:rPr lang="en-US" altLang="ko-KR" sz="2000" dirty="0">
                <a:solidFill>
                  <a:srgbClr val="0F0F0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</a:t>
            </a:r>
            <a:r>
              <a:rPr lang="ko-KR" altLang="en-US" sz="2000" dirty="0">
                <a:solidFill>
                  <a:srgbClr val="0F0F0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및 실시간으로 축적</a:t>
            </a:r>
            <a:endParaRPr lang="en-US" altLang="ko-KR" sz="2000" dirty="0">
              <a:solidFill>
                <a:srgbClr val="0F0F0F"/>
              </a:solidFill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i="0" dirty="0">
                <a:solidFill>
                  <a:srgbClr val="0F0F0F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암시적 피드백은 사용자의 무의식적인 선호를 반영해 학습에 적합하며</a:t>
            </a:r>
            <a:r>
              <a:rPr lang="en-US" altLang="ko-KR" sz="2000" i="0" dirty="0">
                <a:solidFill>
                  <a:srgbClr val="0F0F0F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i="0" dirty="0">
                <a:solidFill>
                  <a:srgbClr val="0F0F0F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본 연구는 이 시나리오를 현실 가정으로 채택</a:t>
            </a:r>
            <a:endParaRPr lang="en-US" altLang="ko-KR" sz="2000" i="0" dirty="0">
              <a:solidFill>
                <a:srgbClr val="0F0F0F"/>
              </a:solidFill>
              <a:effectLst/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5839FA-A288-1170-9438-B84C1DFA84DD}"/>
              </a:ext>
            </a:extLst>
          </p:cNvPr>
          <p:cNvSpPr txBox="1"/>
          <p:nvPr/>
        </p:nvSpPr>
        <p:spPr>
          <a:xfrm>
            <a:off x="913441" y="2202420"/>
            <a:ext cx="110772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데이터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: Gowalla dataset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명시적 로그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-&gt;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암시적 데이터 전환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Taobao dataset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모델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: ANN(</a:t>
            </a:r>
            <a:r>
              <a:rPr lang="en-US" altLang="ko-KR" sz="20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NeuMF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/NCF) → SNN(LIF/IF, </a:t>
            </a:r>
            <a:r>
              <a:rPr lang="en-US" altLang="ko-KR" sz="20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rate→TTFS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환경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: Google </a:t>
            </a:r>
            <a:r>
              <a:rPr lang="en-US" altLang="ko-KR" sz="20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Colab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+ </a:t>
            </a:r>
            <a:r>
              <a:rPr lang="en-US" altLang="ko-KR" sz="20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PyTorch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</a:t>
            </a:r>
            <a:r>
              <a:rPr lang="en-US" altLang="ko-KR" sz="2000" i="1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(EBRAINS/</a:t>
            </a:r>
            <a:r>
              <a:rPr lang="en-US" altLang="ko-KR" sz="2000" i="1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SpiNNaker</a:t>
            </a:r>
            <a:r>
              <a:rPr lang="en-US" altLang="ko-KR" sz="2000" i="1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</a:t>
            </a:r>
            <a:r>
              <a:rPr lang="ko-KR" altLang="en-US" sz="2000" i="1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실측은 제외</a:t>
            </a:r>
            <a:r>
              <a:rPr lang="en-US" altLang="ko-KR" sz="2000" i="1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)</a:t>
            </a:r>
            <a:endParaRPr lang="ko-KR" altLang="en-US" sz="20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EACB79D-21D4-4B96-65C8-D5D1E29AC7D9}"/>
              </a:ext>
            </a:extLst>
          </p:cNvPr>
          <p:cNvSpPr/>
          <p:nvPr/>
        </p:nvSpPr>
        <p:spPr>
          <a:xfrm>
            <a:off x="557400" y="1291661"/>
            <a:ext cx="1817709" cy="761584"/>
          </a:xfrm>
          <a:prstGeom prst="rect">
            <a:avLst/>
          </a:prstGeom>
          <a:solidFill>
            <a:srgbClr val="64DECF">
              <a:alpha val="22000"/>
            </a:srgb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FEF2E5C-7809-7CBA-35F6-E3226EBCFA89}"/>
              </a:ext>
            </a:extLst>
          </p:cNvPr>
          <p:cNvSpPr/>
          <p:nvPr/>
        </p:nvSpPr>
        <p:spPr>
          <a:xfrm>
            <a:off x="624866" y="1201880"/>
            <a:ext cx="1817709" cy="761584"/>
          </a:xfrm>
          <a:prstGeom prst="rect">
            <a:avLst/>
          </a:prstGeom>
          <a:solidFill>
            <a:srgbClr val="64DECF"/>
          </a:solidFill>
          <a:ln w="317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F0A496-A1F3-4E15-3F66-8788E748E991}"/>
              </a:ext>
            </a:extLst>
          </p:cNvPr>
          <p:cNvSpPr txBox="1"/>
          <p:nvPr/>
        </p:nvSpPr>
        <p:spPr>
          <a:xfrm>
            <a:off x="770672" y="1205677"/>
            <a:ext cx="14702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400" i="0" dirty="0">
                <a:solidFill>
                  <a:schemeClr val="bg1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연구 범위</a:t>
            </a:r>
            <a:endParaRPr lang="en-US" altLang="ko-KR" sz="2400" i="0" dirty="0">
              <a:solidFill>
                <a:schemeClr val="bg1"/>
              </a:solidFill>
              <a:effectLst/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DE12FD1-0E7A-F4E7-9CC8-49E409EDC300}"/>
              </a:ext>
            </a:extLst>
          </p:cNvPr>
          <p:cNvSpPr/>
          <p:nvPr/>
        </p:nvSpPr>
        <p:spPr>
          <a:xfrm>
            <a:off x="557401" y="3806128"/>
            <a:ext cx="2922388" cy="761584"/>
          </a:xfrm>
          <a:prstGeom prst="rect">
            <a:avLst/>
          </a:prstGeom>
          <a:solidFill>
            <a:srgbClr val="64DECF">
              <a:alpha val="22000"/>
            </a:srgb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C7060D4-2D9E-7F28-527C-84F13E42B49F}"/>
              </a:ext>
            </a:extLst>
          </p:cNvPr>
          <p:cNvSpPr/>
          <p:nvPr/>
        </p:nvSpPr>
        <p:spPr>
          <a:xfrm>
            <a:off x="624867" y="3716347"/>
            <a:ext cx="2982630" cy="761584"/>
          </a:xfrm>
          <a:prstGeom prst="rect">
            <a:avLst/>
          </a:prstGeom>
          <a:solidFill>
            <a:srgbClr val="64DECF"/>
          </a:solidFill>
          <a:ln w="317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3D81AD-47B7-FD52-AB54-5D4A6D008292}"/>
              </a:ext>
            </a:extLst>
          </p:cNvPr>
          <p:cNvSpPr txBox="1"/>
          <p:nvPr/>
        </p:nvSpPr>
        <p:spPr>
          <a:xfrm>
            <a:off x="698258" y="3757582"/>
            <a:ext cx="27815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400" i="0" dirty="0">
                <a:solidFill>
                  <a:schemeClr val="bg1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암시적 데이터 사용</a:t>
            </a:r>
            <a:endParaRPr lang="en-US" altLang="ko-KR" sz="2400" dirty="0">
              <a:solidFill>
                <a:schemeClr val="bg1"/>
              </a:solidFill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409A68-34E7-A55E-BDC2-5E325A3E3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808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3029-0D4A-82DD-7455-1CB2264F2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8D818143-B439-0352-8784-798C533A2D4B}"/>
              </a:ext>
            </a:extLst>
          </p:cNvPr>
          <p:cNvSpPr/>
          <p:nvPr/>
        </p:nvSpPr>
        <p:spPr>
          <a:xfrm flipV="1">
            <a:off x="557400" y="1001162"/>
            <a:ext cx="11077200" cy="18000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006C905-B344-B695-6DC0-872AD32249CB}"/>
              </a:ext>
            </a:extLst>
          </p:cNvPr>
          <p:cNvGrpSpPr/>
          <p:nvPr/>
        </p:nvGrpSpPr>
        <p:grpSpPr>
          <a:xfrm>
            <a:off x="458788" y="188165"/>
            <a:ext cx="9016516" cy="830997"/>
            <a:chOff x="3819245" y="188165"/>
            <a:chExt cx="8395830" cy="8309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F1F1750-3D3D-7FD8-2FAC-486B25FB2024}"/>
                </a:ext>
              </a:extLst>
            </p:cNvPr>
            <p:cNvSpPr/>
            <p:nvPr/>
          </p:nvSpPr>
          <p:spPr>
            <a:xfrm>
              <a:off x="4766940" y="294930"/>
              <a:ext cx="744813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연구 배경과 논리 </a:t>
              </a:r>
              <a:r>
                <a:rPr lang="en-US" altLang="ko-KR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– ANN to SNN </a:t>
              </a:r>
              <a:r>
                <a:rPr lang="ko-KR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변환</a:t>
              </a:r>
              <a:endParaRPr lang="ko-KR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43649FE-0233-6877-D9BD-CB0338F98311}"/>
                </a:ext>
              </a:extLst>
            </p:cNvPr>
            <p:cNvSpPr txBox="1"/>
            <p:nvPr/>
          </p:nvSpPr>
          <p:spPr>
            <a:xfrm>
              <a:off x="3819245" y="188165"/>
              <a:ext cx="94769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02</a:t>
              </a:r>
              <a:endParaRPr lang="ko-KR" altLang="en-US" sz="4800" b="1" dirty="0">
                <a:solidFill>
                  <a:srgbClr val="64DEC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B7E0F86-4FAD-A01C-869D-0A0404DCBE55}"/>
              </a:ext>
            </a:extLst>
          </p:cNvPr>
          <p:cNvSpPr txBox="1"/>
          <p:nvPr/>
        </p:nvSpPr>
        <p:spPr>
          <a:xfrm>
            <a:off x="557400" y="1125927"/>
            <a:ext cx="11332083" cy="559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1.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정확도는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ANN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에서 확보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효율은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SNN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에서 실현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ANN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은 데이터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·</a:t>
            </a:r>
            <a:r>
              <a:rPr lang="ko-KR" altLang="en-US" sz="20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옵티마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친화적이라 학습 안정성과 정확도가 높음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학습이 끝난 뒤 가중치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/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스케일을 보정해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SNN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으로 변환하면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정확도 손실 최소화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+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추론 단계의 시간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·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전력 절감을 동시에 얻음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2.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서비스 병목은 대부분 ‘</a:t>
            </a:r>
            <a:r>
              <a:rPr lang="ko-KR" altLang="en-US" sz="20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추론’에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있다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추천은 요청당 수천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~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수만 후보 스코어링이 반복되는 온라인 추론이 핵심 비용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학습은 오프라인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·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주기적이지만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추론은 실시간이므로 효율 최적화의 투자 대비 효과가 큼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3.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이벤트 기반 추론의 구조적 이점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TTFS/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조기종료로 상위 후보가 더 빨리 결정 → 불필요한 계산 생략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희소 발화로 메모리 접근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·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연산을 줄여 지연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/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전력 낮춤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3E813CE-C089-7BCA-0910-B1E77A3CE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384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C4505-968C-F41F-D1E0-EFB1D32ED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44F87069-FE61-5741-F298-616B498735EC}"/>
              </a:ext>
            </a:extLst>
          </p:cNvPr>
          <p:cNvSpPr/>
          <p:nvPr/>
        </p:nvSpPr>
        <p:spPr>
          <a:xfrm flipV="1">
            <a:off x="557400" y="1001162"/>
            <a:ext cx="11077200" cy="18000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BB71E2E-61FB-777B-3407-E7310B3DD4A6}"/>
              </a:ext>
            </a:extLst>
          </p:cNvPr>
          <p:cNvGrpSpPr/>
          <p:nvPr/>
        </p:nvGrpSpPr>
        <p:grpSpPr>
          <a:xfrm>
            <a:off x="458788" y="188165"/>
            <a:ext cx="5754116" cy="1183983"/>
            <a:chOff x="3819245" y="188165"/>
            <a:chExt cx="3859336" cy="118398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C37B8B3-CF5B-AB27-ED93-CB3336AF7A97}"/>
                </a:ext>
              </a:extLst>
            </p:cNvPr>
            <p:cNvSpPr/>
            <p:nvPr/>
          </p:nvSpPr>
          <p:spPr>
            <a:xfrm>
              <a:off x="4481291" y="294930"/>
              <a:ext cx="3197290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암시적 데이터셋 </a:t>
              </a:r>
              <a:r>
                <a:rPr lang="ko-KR" altLang="en-US" sz="3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전처리</a:t>
              </a:r>
              <a:endParaRPr lang="ko-KR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744D312-E44A-342B-8527-C2505CE875D8}"/>
                </a:ext>
              </a:extLst>
            </p:cNvPr>
            <p:cNvSpPr txBox="1"/>
            <p:nvPr/>
          </p:nvSpPr>
          <p:spPr>
            <a:xfrm>
              <a:off x="3819245" y="188165"/>
              <a:ext cx="88245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03</a:t>
              </a:r>
              <a:endParaRPr lang="ko-KR" altLang="en-US" sz="4800" b="1" dirty="0">
                <a:solidFill>
                  <a:srgbClr val="64DEC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0D1904-7B0B-1580-6B9B-B422135FDAD4}"/>
              </a:ext>
            </a:extLst>
          </p:cNvPr>
          <p:cNvSpPr txBox="1"/>
          <p:nvPr/>
        </p:nvSpPr>
        <p:spPr>
          <a:xfrm>
            <a:off x="355944" y="1234372"/>
            <a:ext cx="1148011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Chunk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기반 로딩 </a:t>
            </a:r>
            <a:endParaRPr lang="en-US" altLang="ko-KR" sz="20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메모리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2GB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수준에서도 사용자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/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아이템 매핑 및 상호작용 누적 가능</a:t>
            </a:r>
            <a:endParaRPr lang="en-US" altLang="ko-KR" sz="20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endParaRPr lang="ko-KR" altLang="en-US" sz="20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2)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라벨 정의</a:t>
            </a:r>
            <a:endParaRPr lang="en-US" altLang="ko-KR" sz="20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양성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(1): purchase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만 사용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.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명시적 데이터셋의 경우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0/1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로 변환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음성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(0): </a:t>
            </a:r>
            <a:r>
              <a:rPr lang="ko-KR" altLang="en-US" sz="20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미관찰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(cart/fav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는 라벨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피처 모두 제외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) -&gt;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노이즈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·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복잡도 감소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. Click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은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보조 행동으로 사용</a:t>
            </a:r>
            <a:endParaRPr lang="en-US" altLang="ko-KR" sz="20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sz="20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3)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데이터 구성</a:t>
            </a:r>
            <a:endParaRPr lang="en-US" altLang="ko-KR" sz="20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전역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0-based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연속 인덱스 매핑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</a:t>
            </a:r>
            <a:r>
              <a:rPr lang="ko-KR" altLang="en-US" sz="20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임베딩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일관성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한 번 이상 구매한 사용자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/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아이템만 유지</a:t>
            </a:r>
            <a:endParaRPr lang="en-US" altLang="ko-KR" sz="20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1:1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네거티브 샘플링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(u, </a:t>
            </a:r>
            <a:r>
              <a:rPr lang="en-US" altLang="ko-KR" sz="20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i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⁺) &lt;-&gt; (u, j⁻)</a:t>
            </a:r>
          </a:p>
          <a:p>
            <a:endParaRPr lang="en-US" altLang="ko-KR" sz="20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4)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분할 전략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(Two-Pass)</a:t>
            </a:r>
          </a:p>
          <a:p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Pass-1: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구매 로그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1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회 스캔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-&gt;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전역 매핑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분할 규칙 확정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(4:1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랜덤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/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최신 홀드아웃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/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시간 스냅샷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)</a:t>
            </a:r>
          </a:p>
          <a:p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Pass-2: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매핑 적용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·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버킷 분리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-&gt;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COO -&gt; CSR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저장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805452-AAC5-F205-05D4-4E38C16007D9}"/>
              </a:ext>
            </a:extLst>
          </p:cNvPr>
          <p:cNvSpPr/>
          <p:nvPr/>
        </p:nvSpPr>
        <p:spPr>
          <a:xfrm>
            <a:off x="382448" y="1160416"/>
            <a:ext cx="2798074" cy="509820"/>
          </a:xfrm>
          <a:prstGeom prst="rect">
            <a:avLst/>
          </a:prstGeom>
          <a:solidFill>
            <a:srgbClr val="64DECF">
              <a:alpha val="22000"/>
            </a:srgb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F0E3653-FB19-D0BC-6D9D-C6B0BA52988E}"/>
              </a:ext>
            </a:extLst>
          </p:cNvPr>
          <p:cNvSpPr/>
          <p:nvPr/>
        </p:nvSpPr>
        <p:spPr>
          <a:xfrm>
            <a:off x="355944" y="2027056"/>
            <a:ext cx="1973765" cy="509820"/>
          </a:xfrm>
          <a:prstGeom prst="rect">
            <a:avLst/>
          </a:prstGeom>
          <a:solidFill>
            <a:srgbClr val="64DECF">
              <a:alpha val="22000"/>
            </a:srgb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631BB5-68E9-A816-2838-A30FA0CA4162}"/>
              </a:ext>
            </a:extLst>
          </p:cNvPr>
          <p:cNvSpPr/>
          <p:nvPr/>
        </p:nvSpPr>
        <p:spPr>
          <a:xfrm>
            <a:off x="382448" y="3556729"/>
            <a:ext cx="1973765" cy="509820"/>
          </a:xfrm>
          <a:prstGeom prst="rect">
            <a:avLst/>
          </a:prstGeom>
          <a:solidFill>
            <a:srgbClr val="64DECF">
              <a:alpha val="22000"/>
            </a:srgb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8CFACD-CEA1-AF9A-7DFC-3BE67FE6FDB1}"/>
              </a:ext>
            </a:extLst>
          </p:cNvPr>
          <p:cNvSpPr/>
          <p:nvPr/>
        </p:nvSpPr>
        <p:spPr>
          <a:xfrm>
            <a:off x="382448" y="5113808"/>
            <a:ext cx="2996856" cy="509820"/>
          </a:xfrm>
          <a:prstGeom prst="rect">
            <a:avLst/>
          </a:prstGeom>
          <a:solidFill>
            <a:srgbClr val="64DECF">
              <a:alpha val="22000"/>
            </a:srgb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85B828F-497D-8EC2-EC39-857CAC983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658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505D9C9E-8325-4A59-BEFC-3BC22C85BDAD}"/>
              </a:ext>
            </a:extLst>
          </p:cNvPr>
          <p:cNvSpPr/>
          <p:nvPr/>
        </p:nvSpPr>
        <p:spPr>
          <a:xfrm flipV="1">
            <a:off x="557400" y="1001162"/>
            <a:ext cx="11077200" cy="18000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B0813F0-0608-43A3-9E53-0BA015EDE231}"/>
              </a:ext>
            </a:extLst>
          </p:cNvPr>
          <p:cNvGrpSpPr/>
          <p:nvPr/>
        </p:nvGrpSpPr>
        <p:grpSpPr>
          <a:xfrm>
            <a:off x="682552" y="175708"/>
            <a:ext cx="5413448" cy="1179806"/>
            <a:chOff x="3819245" y="188165"/>
            <a:chExt cx="3972729" cy="1179806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D0033C3-456D-4151-9AAB-F0A2E961A5B6}"/>
                </a:ext>
              </a:extLst>
            </p:cNvPr>
            <p:cNvSpPr/>
            <p:nvPr/>
          </p:nvSpPr>
          <p:spPr>
            <a:xfrm>
              <a:off x="4594684" y="290753"/>
              <a:ext cx="3197290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변화 친화적 </a:t>
              </a:r>
              <a:r>
                <a:rPr lang="en-US" altLang="ko-KR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ANN </a:t>
              </a:r>
              <a:r>
                <a:rPr lang="ko-KR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설계</a:t>
              </a:r>
              <a:endParaRPr lang="ko-KR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841637C-F02D-4ED4-9B17-10A92FFC6619}"/>
                </a:ext>
              </a:extLst>
            </p:cNvPr>
            <p:cNvSpPr txBox="1"/>
            <p:nvPr/>
          </p:nvSpPr>
          <p:spPr>
            <a:xfrm>
              <a:off x="3819245" y="188165"/>
              <a:ext cx="94769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04</a:t>
              </a:r>
              <a:endParaRPr lang="ko-KR" altLang="en-US" sz="4800" b="1" dirty="0">
                <a:solidFill>
                  <a:srgbClr val="64DEC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18E7FC5-BCED-F85F-9676-013ACEEDF321}"/>
              </a:ext>
            </a:extLst>
          </p:cNvPr>
          <p:cNvSpPr txBox="1"/>
          <p:nvPr/>
        </p:nvSpPr>
        <p:spPr>
          <a:xfrm>
            <a:off x="557400" y="1458102"/>
            <a:ext cx="10656031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2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1. </a:t>
            </a:r>
            <a:r>
              <a:rPr lang="en-US" altLang="ko-KR" sz="22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ReLU</a:t>
            </a:r>
            <a:r>
              <a:rPr lang="en-US" altLang="ko-KR" sz="22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-only</a:t>
            </a:r>
          </a:p>
          <a:p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SNN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발화는 본질적으로 </a:t>
            </a:r>
            <a:r>
              <a:rPr lang="ko-KR" altLang="en-US" sz="20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비음수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이벤트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스파이크 빈도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)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이고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en-US" altLang="ko-KR" sz="20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ReLU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로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ANN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활성의 부호를 맞춰두면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rate/TTFS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로의 매핑이 </a:t>
            </a:r>
            <a:r>
              <a:rPr lang="ko-KR" altLang="en-US" sz="20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단순해지며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음수 처리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분리 채널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·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시프트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)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같은 보정이 크게 줄어든다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.</a:t>
            </a:r>
          </a:p>
          <a:p>
            <a:pPr>
              <a:buNone/>
            </a:pPr>
            <a:endParaRPr lang="en-US" altLang="ko-KR" sz="20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pPr>
              <a:buNone/>
            </a:pPr>
            <a:r>
              <a:rPr lang="en-US" altLang="ko-KR" sz="22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2. No BN/Dropout/LN </a:t>
            </a:r>
          </a:p>
          <a:p>
            <a:pPr>
              <a:buNone/>
            </a:pP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BN/Dropout/LN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은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SNN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에 직접 대응 연산이 없거나 시계열 의존을 만들어 변환 시 추정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/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보정 변수가 폭증한다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.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이를 제거하면 한정된 파라미터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스케일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임계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θ)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로 정렬이 가능해지고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타임스텝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T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를 늘리지 않아도 안정적 근사가 쉬워진다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.</a:t>
            </a:r>
          </a:p>
          <a:p>
            <a:pPr>
              <a:buNone/>
            </a:pPr>
            <a:endParaRPr lang="en-US" altLang="ko-KR" sz="20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pPr>
              <a:buNone/>
            </a:pPr>
            <a:r>
              <a:rPr lang="en-US" altLang="ko-KR" sz="22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3. </a:t>
            </a:r>
            <a:r>
              <a:rPr lang="ko-KR" altLang="en-US" sz="22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출력 로직 단조성</a:t>
            </a:r>
            <a:r>
              <a:rPr lang="en-US" altLang="ko-KR" sz="22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(Linear </a:t>
            </a:r>
            <a:r>
              <a:rPr lang="ko-KR" altLang="en-US" sz="22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출력 </a:t>
            </a:r>
            <a:r>
              <a:rPr lang="en-US" altLang="ko-KR" sz="22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+ BCE </a:t>
            </a:r>
            <a:r>
              <a:rPr lang="ko-KR" altLang="en-US" sz="22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로직 직결</a:t>
            </a:r>
            <a:r>
              <a:rPr lang="en-US" altLang="ko-KR" sz="22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)</a:t>
            </a:r>
          </a:p>
          <a:p>
            <a:pPr>
              <a:buNone/>
            </a:pP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마지막을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Linear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로 두면 스코어의 순서가 유지되어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변환 후에도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θ/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스케일 보정만으로 랭킹 일관성 확보가 용이하다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.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즉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순위가 중요한 추천에서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SNN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변환 시 핵심 손실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랭킹 붕괴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)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을 막아준다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85DDA9E-FD9F-BDE3-5CBA-13C5DA3F82BB}"/>
              </a:ext>
            </a:extLst>
          </p:cNvPr>
          <p:cNvSpPr/>
          <p:nvPr/>
        </p:nvSpPr>
        <p:spPr>
          <a:xfrm>
            <a:off x="557400" y="1373514"/>
            <a:ext cx="1973765" cy="509820"/>
          </a:xfrm>
          <a:prstGeom prst="rect">
            <a:avLst/>
          </a:prstGeom>
          <a:solidFill>
            <a:srgbClr val="64DECF">
              <a:alpha val="22000"/>
            </a:srgb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A9EA9B-99B4-D20F-D658-D2B6A1BAA016}"/>
              </a:ext>
            </a:extLst>
          </p:cNvPr>
          <p:cNvSpPr/>
          <p:nvPr/>
        </p:nvSpPr>
        <p:spPr>
          <a:xfrm>
            <a:off x="557399" y="2879847"/>
            <a:ext cx="3245975" cy="509820"/>
          </a:xfrm>
          <a:prstGeom prst="rect">
            <a:avLst/>
          </a:prstGeom>
          <a:solidFill>
            <a:srgbClr val="64DECF">
              <a:alpha val="22000"/>
            </a:srgb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299D109-CB1D-BC90-8D6C-34393CC27094}"/>
              </a:ext>
            </a:extLst>
          </p:cNvPr>
          <p:cNvSpPr/>
          <p:nvPr/>
        </p:nvSpPr>
        <p:spPr>
          <a:xfrm>
            <a:off x="557399" y="4415743"/>
            <a:ext cx="6479505" cy="509820"/>
          </a:xfrm>
          <a:prstGeom prst="rect">
            <a:avLst/>
          </a:prstGeom>
          <a:solidFill>
            <a:srgbClr val="64DECF">
              <a:alpha val="22000"/>
            </a:srgb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B3D1258-D619-91C3-D2BF-F386D9D6A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0055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505D9C9E-8325-4A59-BEFC-3BC22C85BDAD}"/>
              </a:ext>
            </a:extLst>
          </p:cNvPr>
          <p:cNvSpPr/>
          <p:nvPr/>
        </p:nvSpPr>
        <p:spPr>
          <a:xfrm flipV="1">
            <a:off x="557400" y="1001162"/>
            <a:ext cx="11077200" cy="18000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B0813F0-0608-43A3-9E53-0BA015EDE231}"/>
              </a:ext>
            </a:extLst>
          </p:cNvPr>
          <p:cNvGrpSpPr/>
          <p:nvPr/>
        </p:nvGrpSpPr>
        <p:grpSpPr>
          <a:xfrm>
            <a:off x="945132" y="188165"/>
            <a:ext cx="4144985" cy="830997"/>
            <a:chOff x="3819245" y="188165"/>
            <a:chExt cx="4144985" cy="8309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D0033C3-456D-4151-9AAB-F0A2E961A5B6}"/>
                </a:ext>
              </a:extLst>
            </p:cNvPr>
            <p:cNvSpPr/>
            <p:nvPr/>
          </p:nvSpPr>
          <p:spPr>
            <a:xfrm>
              <a:off x="4766940" y="266506"/>
              <a:ext cx="319729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ANN </a:t>
              </a:r>
              <a:r>
                <a:rPr lang="ko-KR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학습</a:t>
              </a:r>
              <a:endParaRPr lang="ko-KR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841637C-F02D-4ED4-9B17-10A92FFC6619}"/>
                </a:ext>
              </a:extLst>
            </p:cNvPr>
            <p:cNvSpPr txBox="1"/>
            <p:nvPr/>
          </p:nvSpPr>
          <p:spPr>
            <a:xfrm>
              <a:off x="3819245" y="188165"/>
              <a:ext cx="94769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05</a:t>
              </a:r>
              <a:endParaRPr lang="ko-KR" altLang="en-US" sz="4800" b="1" dirty="0">
                <a:solidFill>
                  <a:srgbClr val="64DEC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5DECA7A-A1F2-92FD-ABB7-936845BF55B2}"/>
              </a:ext>
            </a:extLst>
          </p:cNvPr>
          <p:cNvSpPr txBox="1"/>
          <p:nvPr/>
        </p:nvSpPr>
        <p:spPr>
          <a:xfrm>
            <a:off x="1171073" y="1664278"/>
            <a:ext cx="1013119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목표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/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시나리오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암시적 피드백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구매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·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클릭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)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기반 </a:t>
            </a:r>
            <a:r>
              <a:rPr lang="en-US" altLang="ko-KR" sz="20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NeuCF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학습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구매를 주 타깃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클릭은 보조 신호</a:t>
            </a:r>
            <a:endParaRPr lang="en-US" altLang="ko-KR" sz="20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ko-KR" altLang="en-US" sz="20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데이터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·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샘플링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입력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: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구매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클릭</a:t>
            </a:r>
            <a:endParaRPr lang="en-US" altLang="ko-KR" sz="20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1:1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네거티브 샘플링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(user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별 미상호작용 아이템 랜덤 추출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20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확장성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·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재현성 장치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0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시드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고정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</a:t>
            </a:r>
            <a:r>
              <a:rPr lang="en-US" altLang="ko-KR" sz="20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set_seed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)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로 재현성 확보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대규모에 대비한 부분 학습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/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대규모 배치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클릭 부재 시 보조항 자동 비활성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ko-KR" altLang="en-US" sz="20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155A1E5-6C20-79CC-550C-21184D2E2D0B}"/>
              </a:ext>
            </a:extLst>
          </p:cNvPr>
          <p:cNvSpPr/>
          <p:nvPr/>
        </p:nvSpPr>
        <p:spPr>
          <a:xfrm>
            <a:off x="1171073" y="1577249"/>
            <a:ext cx="1973765" cy="509820"/>
          </a:xfrm>
          <a:prstGeom prst="rect">
            <a:avLst/>
          </a:prstGeom>
          <a:solidFill>
            <a:srgbClr val="64DECF">
              <a:alpha val="22000"/>
            </a:srgb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D97746-9D88-5129-1470-AEB222C98AF8}"/>
              </a:ext>
            </a:extLst>
          </p:cNvPr>
          <p:cNvSpPr/>
          <p:nvPr/>
        </p:nvSpPr>
        <p:spPr>
          <a:xfrm>
            <a:off x="1144569" y="2771941"/>
            <a:ext cx="1973765" cy="509820"/>
          </a:xfrm>
          <a:prstGeom prst="rect">
            <a:avLst/>
          </a:prstGeom>
          <a:solidFill>
            <a:srgbClr val="64DECF">
              <a:alpha val="22000"/>
            </a:srgb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214AFC4-F4A1-C256-14FE-23ACF3552089}"/>
              </a:ext>
            </a:extLst>
          </p:cNvPr>
          <p:cNvSpPr/>
          <p:nvPr/>
        </p:nvSpPr>
        <p:spPr>
          <a:xfrm>
            <a:off x="1171073" y="4057927"/>
            <a:ext cx="2314249" cy="509820"/>
          </a:xfrm>
          <a:prstGeom prst="rect">
            <a:avLst/>
          </a:prstGeom>
          <a:solidFill>
            <a:srgbClr val="64DECF">
              <a:alpha val="22000"/>
            </a:srgb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A547329-3306-03D7-890E-F19D28A41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942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D325-6419-EE7E-F28D-B1A51F286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A44B06F0-A595-0E56-87CC-7AA31AEE4A3C}"/>
              </a:ext>
            </a:extLst>
          </p:cNvPr>
          <p:cNvSpPr/>
          <p:nvPr/>
        </p:nvSpPr>
        <p:spPr>
          <a:xfrm flipV="1">
            <a:off x="557400" y="1001162"/>
            <a:ext cx="11077200" cy="18000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86A02AE-5C44-BF03-2109-206F693051BF}"/>
              </a:ext>
            </a:extLst>
          </p:cNvPr>
          <p:cNvGrpSpPr/>
          <p:nvPr/>
        </p:nvGrpSpPr>
        <p:grpSpPr>
          <a:xfrm>
            <a:off x="945132" y="188165"/>
            <a:ext cx="4144985" cy="830997"/>
            <a:chOff x="3819245" y="188165"/>
            <a:chExt cx="4144985" cy="8309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6641967-FCA3-8CAE-550C-AD0E6DC8C778}"/>
                </a:ext>
              </a:extLst>
            </p:cNvPr>
            <p:cNvSpPr/>
            <p:nvPr/>
          </p:nvSpPr>
          <p:spPr>
            <a:xfrm>
              <a:off x="4766940" y="266506"/>
              <a:ext cx="319729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ANN </a:t>
              </a:r>
              <a:r>
                <a:rPr lang="ko-KR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학습</a:t>
              </a:r>
              <a:endParaRPr lang="ko-KR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364DC3D-9F16-1A0B-E0BA-D1E9D5A268FF}"/>
                </a:ext>
              </a:extLst>
            </p:cNvPr>
            <p:cNvSpPr txBox="1"/>
            <p:nvPr/>
          </p:nvSpPr>
          <p:spPr>
            <a:xfrm>
              <a:off x="3819245" y="188165"/>
              <a:ext cx="94769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05</a:t>
              </a:r>
              <a:endParaRPr lang="ko-KR" altLang="en-US" sz="4800" b="1" dirty="0">
                <a:solidFill>
                  <a:srgbClr val="64DEC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4707012-95E5-8288-62A3-9D1849E2D1CD}"/>
              </a:ext>
            </a:extLst>
          </p:cNvPr>
          <p:cNvSpPr txBox="1"/>
          <p:nvPr/>
        </p:nvSpPr>
        <p:spPr>
          <a:xfrm>
            <a:off x="1283366" y="1169043"/>
            <a:ext cx="92764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모델 구조 </a:t>
            </a:r>
            <a:r>
              <a:rPr lang="en-US" altLang="ko-KR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</a:t>
            </a:r>
            <a:r>
              <a:rPr lang="en-US" altLang="ko-KR" sz="24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NeuCF</a:t>
            </a:r>
            <a:r>
              <a:rPr lang="en-US" altLang="ko-KR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)</a:t>
            </a:r>
            <a:r>
              <a:rPr lang="ko-KR" altLang="en-US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GMF </a:t>
            </a:r>
            <a:r>
              <a:rPr lang="ko-KR" altLang="en-US" sz="24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임베딩</a:t>
            </a:r>
            <a:r>
              <a:rPr lang="en-US" altLang="ko-KR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+ MLP </a:t>
            </a:r>
            <a:r>
              <a:rPr lang="ko-KR" altLang="en-US" sz="24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임베딩</a:t>
            </a:r>
            <a:r>
              <a:rPr lang="en-US" altLang="ko-KR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</a:t>
            </a:r>
            <a:r>
              <a:rPr lang="ko-KR" altLang="en-US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결합된 구조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6514BCD-1618-A5FC-81C8-1D7FDF43A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606" y="2264404"/>
            <a:ext cx="6689558" cy="413039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506CD2B-F3CB-1BBE-0BA0-43F1A0009FB4}"/>
              </a:ext>
            </a:extLst>
          </p:cNvPr>
          <p:cNvSpPr/>
          <p:nvPr/>
        </p:nvSpPr>
        <p:spPr>
          <a:xfrm>
            <a:off x="1283366" y="1073220"/>
            <a:ext cx="2705538" cy="509820"/>
          </a:xfrm>
          <a:prstGeom prst="rect">
            <a:avLst/>
          </a:prstGeom>
          <a:solidFill>
            <a:srgbClr val="64DECF">
              <a:alpha val="22000"/>
            </a:srgb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5F875B-9764-22ED-2A26-C9F8F3D87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755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F4BA2-1500-C512-A783-CD08AAF50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2DDB8C-7606-1736-5306-55CC8628FBB6}"/>
              </a:ext>
            </a:extLst>
          </p:cNvPr>
          <p:cNvSpPr/>
          <p:nvPr/>
        </p:nvSpPr>
        <p:spPr>
          <a:xfrm flipV="1">
            <a:off x="557400" y="1001162"/>
            <a:ext cx="11077200" cy="18000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6946577-9419-9FF8-E29F-DA1CEBC37A83}"/>
              </a:ext>
            </a:extLst>
          </p:cNvPr>
          <p:cNvGrpSpPr/>
          <p:nvPr/>
        </p:nvGrpSpPr>
        <p:grpSpPr>
          <a:xfrm>
            <a:off x="557400" y="158870"/>
            <a:ext cx="4238434" cy="830997"/>
            <a:chOff x="3819245" y="188165"/>
            <a:chExt cx="4238434" cy="8309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7CA6144-1180-64E6-5696-99F1EAE3248C}"/>
                </a:ext>
              </a:extLst>
            </p:cNvPr>
            <p:cNvSpPr/>
            <p:nvPr/>
          </p:nvSpPr>
          <p:spPr>
            <a:xfrm>
              <a:off x="4860389" y="281854"/>
              <a:ext cx="319729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Light" panose="00000300000000000000" pitchFamily="2" charset="-127"/>
                </a:rPr>
                <a:t>SNN</a:t>
              </a:r>
              <a:endParaRPr lang="ko-KR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02F3846-ADAE-6CDE-1E30-90C15D7D1531}"/>
                </a:ext>
              </a:extLst>
            </p:cNvPr>
            <p:cNvSpPr txBox="1"/>
            <p:nvPr/>
          </p:nvSpPr>
          <p:spPr>
            <a:xfrm>
              <a:off x="3819245" y="188165"/>
              <a:ext cx="94769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06</a:t>
              </a:r>
              <a:endParaRPr lang="ko-KR" altLang="en-US" sz="4800" b="1" dirty="0">
                <a:solidFill>
                  <a:srgbClr val="64DEC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DD3813E-0F6F-93B7-73B3-3A54D7561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6AED34-01C7-B277-1F84-E38C9DB43D16}"/>
              </a:ext>
            </a:extLst>
          </p:cNvPr>
          <p:cNvSpPr txBox="1"/>
          <p:nvPr/>
        </p:nvSpPr>
        <p:spPr>
          <a:xfrm>
            <a:off x="1283366" y="1169043"/>
            <a:ext cx="92764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1) calibration</a:t>
            </a:r>
            <a:endParaRPr lang="ko-KR" altLang="en-US" sz="24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0F46CCA-25DA-BCE4-FED3-E717BA97D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186" y="1675344"/>
            <a:ext cx="4049733" cy="6560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259484-35EF-B3F2-1CBB-AC3507F3EBCB}"/>
              </a:ext>
            </a:extLst>
          </p:cNvPr>
          <p:cNvSpPr txBox="1"/>
          <p:nvPr/>
        </p:nvSpPr>
        <p:spPr>
          <a:xfrm>
            <a:off x="1283366" y="2813430"/>
            <a:ext cx="927641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2) TTFS </a:t>
            </a:r>
            <a:r>
              <a:rPr lang="ko-KR" altLang="en-US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인코딩</a:t>
            </a:r>
            <a:endParaRPr lang="en-US" altLang="ko-KR" sz="24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endParaRPr lang="en-US" altLang="ko-KR" sz="24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r>
              <a:rPr lang="en-US" altLang="ko-KR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- </a:t>
            </a:r>
            <a:r>
              <a:rPr lang="ko-KR" altLang="en-US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양</a:t>
            </a:r>
            <a:r>
              <a:rPr lang="en-US" altLang="ko-KR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/</a:t>
            </a:r>
            <a:r>
              <a:rPr lang="ko-KR" altLang="en-US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음 정규 및 정규화</a:t>
            </a:r>
            <a:endParaRPr lang="en-US" altLang="ko-KR" sz="24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endParaRPr lang="en-US" altLang="ko-KR" sz="24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r>
              <a:rPr lang="en-US" altLang="ko-KR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- </a:t>
            </a:r>
            <a:r>
              <a:rPr lang="ko-KR" altLang="en-US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첫 발화 시각</a:t>
            </a:r>
            <a:br>
              <a:rPr lang="en-US" altLang="ko-KR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</a:br>
            <a:endParaRPr lang="en-US" altLang="ko-KR" sz="24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endParaRPr lang="en-US" altLang="ko-KR" sz="24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r>
              <a:rPr lang="en-US" altLang="ko-KR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- </a:t>
            </a:r>
            <a:r>
              <a:rPr lang="ko-KR" altLang="en-US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진폭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5A64638-5B82-1189-FFA4-46722BBBB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825" y="3053591"/>
            <a:ext cx="4715289" cy="116686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6FDE00D-A78E-F213-2D5B-DF10A3E09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960" y="4371817"/>
            <a:ext cx="6779917" cy="72534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4B7C9FC-8164-A1EB-319D-F7A374745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6532" y="5182656"/>
            <a:ext cx="4911659" cy="129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962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7E2E2-CA48-7832-67AD-EFDBA05A2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27EA5DFB-6227-29D7-3F5A-CBE8A7C19AC5}"/>
              </a:ext>
            </a:extLst>
          </p:cNvPr>
          <p:cNvSpPr/>
          <p:nvPr/>
        </p:nvSpPr>
        <p:spPr>
          <a:xfrm flipV="1">
            <a:off x="557400" y="1001162"/>
            <a:ext cx="11077200" cy="18000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7714952-E4DE-6C79-474B-0E16CB9CA9E5}"/>
              </a:ext>
            </a:extLst>
          </p:cNvPr>
          <p:cNvGrpSpPr/>
          <p:nvPr/>
        </p:nvGrpSpPr>
        <p:grpSpPr>
          <a:xfrm>
            <a:off x="557400" y="158870"/>
            <a:ext cx="4238434" cy="830997"/>
            <a:chOff x="3819245" y="188165"/>
            <a:chExt cx="4238434" cy="8309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5E56B1E-023E-6FD4-B345-627A630AF481}"/>
                </a:ext>
              </a:extLst>
            </p:cNvPr>
            <p:cNvSpPr/>
            <p:nvPr/>
          </p:nvSpPr>
          <p:spPr>
            <a:xfrm>
              <a:off x="4860389" y="281854"/>
              <a:ext cx="319729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Light" panose="00000300000000000000" pitchFamily="2" charset="-127"/>
                </a:rPr>
                <a:t>SNN </a:t>
              </a:r>
              <a:endParaRPr lang="ko-KR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AC166E3-81F3-D0A6-9214-E4FCAFE1C1F0}"/>
                </a:ext>
              </a:extLst>
            </p:cNvPr>
            <p:cNvSpPr txBox="1"/>
            <p:nvPr/>
          </p:nvSpPr>
          <p:spPr>
            <a:xfrm>
              <a:off x="3819245" y="188165"/>
              <a:ext cx="94769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06</a:t>
              </a:r>
              <a:endParaRPr lang="ko-KR" altLang="en-US" sz="4800" b="1" dirty="0">
                <a:solidFill>
                  <a:srgbClr val="64DEC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24288DB-EF56-3A97-02AE-8A185719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9B2C0A-3343-86CC-1A56-8A5F3FCB3045}"/>
              </a:ext>
            </a:extLst>
          </p:cNvPr>
          <p:cNvSpPr txBox="1"/>
          <p:nvPr/>
        </p:nvSpPr>
        <p:spPr>
          <a:xfrm>
            <a:off x="1270114" y="1301868"/>
            <a:ext cx="927641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3)</a:t>
            </a:r>
            <a:r>
              <a:rPr lang="ko-KR" altLang="en-US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이벤트 누적 및 발화</a:t>
            </a:r>
            <a:endParaRPr lang="en-US" altLang="ko-KR" sz="24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endParaRPr lang="en-US" altLang="ko-KR" sz="24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r>
              <a:rPr lang="ko-KR" altLang="en-US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시간</a:t>
            </a:r>
            <a:r>
              <a:rPr lang="en-US" altLang="ko-KR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/</a:t>
            </a:r>
            <a:r>
              <a:rPr lang="ko-KR" altLang="en-US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기여를 한 축으로 정렬하여 </a:t>
            </a:r>
            <a:r>
              <a:rPr lang="ko-KR" altLang="en-US" sz="2400" dirty="0" err="1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누적합</a:t>
            </a:r>
            <a:endParaRPr lang="en-US" altLang="ko-KR" sz="24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endParaRPr lang="en-US" altLang="ko-KR" sz="24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endParaRPr lang="en-US" altLang="ko-KR" sz="24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endParaRPr lang="en-US" altLang="ko-KR" sz="24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endParaRPr lang="en-US" altLang="ko-KR" sz="24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endParaRPr lang="en-US" altLang="ko-KR" sz="24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endParaRPr lang="en-US" altLang="ko-KR" sz="24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r>
              <a:rPr lang="ko-KR" altLang="en-US" sz="24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발화 판정</a:t>
            </a:r>
            <a:endParaRPr lang="en-US" altLang="ko-KR" sz="24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9357823-117B-4463-852C-FCB732806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536" y="2435204"/>
            <a:ext cx="6272928" cy="214144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98C67BA-EA58-73EB-D344-4A5579582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037" y="5230703"/>
            <a:ext cx="8187926" cy="62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950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3521E-5B73-DFF0-23E9-24A6B3B53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6C3B496F-7B04-E6AB-BE4E-86B30A46FBC6}"/>
              </a:ext>
            </a:extLst>
          </p:cNvPr>
          <p:cNvSpPr/>
          <p:nvPr/>
        </p:nvSpPr>
        <p:spPr>
          <a:xfrm flipV="1">
            <a:off x="557400" y="1001162"/>
            <a:ext cx="11077200" cy="18000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A768B7B-B117-EB81-A6DF-3F405E1F1854}"/>
              </a:ext>
            </a:extLst>
          </p:cNvPr>
          <p:cNvGrpSpPr/>
          <p:nvPr/>
        </p:nvGrpSpPr>
        <p:grpSpPr>
          <a:xfrm>
            <a:off x="557400" y="158870"/>
            <a:ext cx="5297968" cy="830997"/>
            <a:chOff x="3819245" y="188165"/>
            <a:chExt cx="5297968" cy="8309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075073F-5AF9-D5AF-9166-A972EC124987}"/>
                </a:ext>
              </a:extLst>
            </p:cNvPr>
            <p:cNvSpPr/>
            <p:nvPr/>
          </p:nvSpPr>
          <p:spPr>
            <a:xfrm>
              <a:off x="4860389" y="281854"/>
              <a:ext cx="425682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Light" panose="00000300000000000000" pitchFamily="2" charset="-127"/>
                </a:rPr>
                <a:t>2-stage Cascade</a:t>
              </a:r>
              <a:endParaRPr lang="ko-KR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449E589-DA94-9FF6-1A7D-B2F5EC1B6C9C}"/>
                </a:ext>
              </a:extLst>
            </p:cNvPr>
            <p:cNvSpPr txBox="1"/>
            <p:nvPr/>
          </p:nvSpPr>
          <p:spPr>
            <a:xfrm>
              <a:off x="3819245" y="188165"/>
              <a:ext cx="94769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06</a:t>
              </a:r>
              <a:endParaRPr lang="ko-KR" altLang="en-US" sz="4800" b="1" dirty="0">
                <a:solidFill>
                  <a:srgbClr val="64DEC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070E6A4-432F-5255-DDDB-9CA2C6C09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B181D5-1378-E44D-6612-67A54AFD755B}"/>
              </a:ext>
            </a:extLst>
          </p:cNvPr>
          <p:cNvSpPr txBox="1"/>
          <p:nvPr/>
        </p:nvSpPr>
        <p:spPr>
          <a:xfrm>
            <a:off x="1218372" y="1392251"/>
            <a:ext cx="97552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 2-stage Cascade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구조를 사용하여 첫번째 단계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(S1)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에서는 작은 시간 범위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(T1)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에서 가볍게 전체 후보를 훑으면서 중요도가 낮은 항목을 제외해 </a:t>
            </a:r>
            <a:r>
              <a:rPr lang="ko-KR" altLang="en-US" sz="2000" b="0" i="0" u="none" strike="noStrike" dirty="0" err="1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연산량과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에너지를 줄이고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다음 단계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(S2)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에서는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S1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에서 통과한 소수의 후보만을 대상으로 더 긴 시간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(T2)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동안 정밀하게 평가하였습니다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. </a:t>
            </a:r>
            <a:endParaRPr lang="ko-KR" altLang="en-US" sz="2000" dirty="0"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2CBDA84-A8D3-F3FC-2252-59BF21F42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050" y="2832059"/>
            <a:ext cx="7441899" cy="365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858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5C995-5DD6-C5C9-46F5-B1FC1DB92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F3FF6EE2-EC36-F9C9-6EFF-BC34622C10EE}"/>
              </a:ext>
            </a:extLst>
          </p:cNvPr>
          <p:cNvSpPr/>
          <p:nvPr/>
        </p:nvSpPr>
        <p:spPr>
          <a:xfrm flipV="1">
            <a:off x="557400" y="1001162"/>
            <a:ext cx="11077200" cy="18000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0AEAE2C-659D-8326-FB6D-DEFFFA404F19}"/>
              </a:ext>
            </a:extLst>
          </p:cNvPr>
          <p:cNvGrpSpPr/>
          <p:nvPr/>
        </p:nvGrpSpPr>
        <p:grpSpPr>
          <a:xfrm>
            <a:off x="557400" y="158870"/>
            <a:ext cx="5297968" cy="830997"/>
            <a:chOff x="3819245" y="188165"/>
            <a:chExt cx="5297968" cy="83099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B4DE159-FF4D-FA6C-6E97-C7F84F111CA2}"/>
                </a:ext>
              </a:extLst>
            </p:cNvPr>
            <p:cNvSpPr/>
            <p:nvPr/>
          </p:nvSpPr>
          <p:spPr>
            <a:xfrm>
              <a:off x="4860389" y="281854"/>
              <a:ext cx="425682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Light" panose="00000300000000000000" pitchFamily="2" charset="-127"/>
                </a:rPr>
                <a:t>평가 프로토콜과 지표 </a:t>
              </a:r>
              <a:r>
                <a:rPr lang="en-US" altLang="ko-KR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Light" panose="00000300000000000000" pitchFamily="2" charset="-127"/>
                </a:rPr>
                <a:t> </a:t>
              </a:r>
              <a:endParaRPr lang="ko-KR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4CFA40D-DAE7-1534-2A0F-48F1DCB3E068}"/>
                </a:ext>
              </a:extLst>
            </p:cNvPr>
            <p:cNvSpPr txBox="1"/>
            <p:nvPr/>
          </p:nvSpPr>
          <p:spPr>
            <a:xfrm>
              <a:off x="3819245" y="188165"/>
              <a:ext cx="94769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07</a:t>
              </a:r>
              <a:endParaRPr lang="ko-KR" altLang="en-US" sz="4800" b="1" dirty="0">
                <a:solidFill>
                  <a:srgbClr val="64DEC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306D1ED-E73E-FC01-603D-AE87BC341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595F37A-8112-D9F4-2FDD-84D26C1BE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152" y="1200990"/>
            <a:ext cx="5755630" cy="261785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A99C191-1E6B-9116-D0EF-8AA957951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3258" y="3818844"/>
            <a:ext cx="5028250" cy="290263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9BDCDA7F-2B06-D1DA-B57E-092E8728BB31}"/>
              </a:ext>
            </a:extLst>
          </p:cNvPr>
          <p:cNvSpPr/>
          <p:nvPr/>
        </p:nvSpPr>
        <p:spPr>
          <a:xfrm>
            <a:off x="2005440" y="1271189"/>
            <a:ext cx="1217186" cy="761584"/>
          </a:xfrm>
          <a:prstGeom prst="rect">
            <a:avLst/>
          </a:prstGeom>
          <a:solidFill>
            <a:srgbClr val="64DECF">
              <a:alpha val="22000"/>
            </a:srgb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055FEA0-8088-1349-B762-08A541CAE63D}"/>
              </a:ext>
            </a:extLst>
          </p:cNvPr>
          <p:cNvSpPr/>
          <p:nvPr/>
        </p:nvSpPr>
        <p:spPr>
          <a:xfrm>
            <a:off x="2072906" y="1181408"/>
            <a:ext cx="1217186" cy="761584"/>
          </a:xfrm>
          <a:prstGeom prst="rect">
            <a:avLst/>
          </a:prstGeom>
          <a:solidFill>
            <a:srgbClr val="64DECF"/>
          </a:solidFill>
          <a:ln w="317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BDB4FC-0818-4F5D-F564-78C688221D3E}"/>
              </a:ext>
            </a:extLst>
          </p:cNvPr>
          <p:cNvSpPr txBox="1"/>
          <p:nvPr/>
        </p:nvSpPr>
        <p:spPr>
          <a:xfrm>
            <a:off x="2218711" y="1185205"/>
            <a:ext cx="98453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i="0" dirty="0">
                <a:solidFill>
                  <a:schemeClr val="bg1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ANN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BF278A3-BA02-E2C5-6B62-2A2DEFFE06C0}"/>
              </a:ext>
            </a:extLst>
          </p:cNvPr>
          <p:cNvSpPr/>
          <p:nvPr/>
        </p:nvSpPr>
        <p:spPr>
          <a:xfrm>
            <a:off x="1940575" y="4155389"/>
            <a:ext cx="1155183" cy="761584"/>
          </a:xfrm>
          <a:prstGeom prst="rect">
            <a:avLst/>
          </a:prstGeom>
          <a:solidFill>
            <a:srgbClr val="64DECF">
              <a:alpha val="22000"/>
            </a:srgb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5F44295-B449-FB3F-2150-8D739D72135C}"/>
              </a:ext>
            </a:extLst>
          </p:cNvPr>
          <p:cNvSpPr/>
          <p:nvPr/>
        </p:nvSpPr>
        <p:spPr>
          <a:xfrm>
            <a:off x="2008041" y="4065608"/>
            <a:ext cx="1155183" cy="761584"/>
          </a:xfrm>
          <a:prstGeom prst="rect">
            <a:avLst/>
          </a:prstGeom>
          <a:solidFill>
            <a:srgbClr val="64DECF"/>
          </a:solidFill>
          <a:ln w="317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7D23B0-F914-1A34-2BB9-FEE6466A699C}"/>
              </a:ext>
            </a:extLst>
          </p:cNvPr>
          <p:cNvSpPr txBox="1"/>
          <p:nvPr/>
        </p:nvSpPr>
        <p:spPr>
          <a:xfrm>
            <a:off x="2153847" y="4069405"/>
            <a:ext cx="93438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2400" i="0" dirty="0">
                <a:solidFill>
                  <a:schemeClr val="bg1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SNN</a:t>
            </a:r>
          </a:p>
        </p:txBody>
      </p:sp>
    </p:spTree>
    <p:extLst>
      <p:ext uri="{BB962C8B-B14F-4D97-AF65-F5344CB8AC3E}">
        <p14:creationId xmlns:p14="http://schemas.microsoft.com/office/powerpoint/2010/main" val="416528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B47E4-6739-8DF8-629A-48F5DC11D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2E96A3FD-B115-393D-32E3-22E77A3EEAE3}"/>
              </a:ext>
            </a:extLst>
          </p:cNvPr>
          <p:cNvSpPr/>
          <p:nvPr/>
        </p:nvSpPr>
        <p:spPr>
          <a:xfrm flipV="1">
            <a:off x="557400" y="1001162"/>
            <a:ext cx="11077200" cy="18000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CDCF9E1-51A4-3600-929B-2221F3B128AF}"/>
              </a:ext>
            </a:extLst>
          </p:cNvPr>
          <p:cNvGrpSpPr/>
          <p:nvPr/>
        </p:nvGrpSpPr>
        <p:grpSpPr>
          <a:xfrm>
            <a:off x="945132" y="188165"/>
            <a:ext cx="4144985" cy="830997"/>
            <a:chOff x="3819245" y="188165"/>
            <a:chExt cx="4144985" cy="8309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C800880-4ECC-2DF5-E59A-667A724F3442}"/>
                </a:ext>
              </a:extLst>
            </p:cNvPr>
            <p:cNvSpPr/>
            <p:nvPr/>
          </p:nvSpPr>
          <p:spPr>
            <a:xfrm>
              <a:off x="4766940" y="266506"/>
              <a:ext cx="319729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결론</a:t>
              </a:r>
              <a:endParaRPr lang="ko-KR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46A7467-5473-095F-52DE-8A5E3554DF98}"/>
                </a:ext>
              </a:extLst>
            </p:cNvPr>
            <p:cNvSpPr txBox="1"/>
            <p:nvPr/>
          </p:nvSpPr>
          <p:spPr>
            <a:xfrm>
              <a:off x="3819245" y="188165"/>
              <a:ext cx="94769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08</a:t>
              </a:r>
              <a:endParaRPr lang="ko-KR" altLang="en-US" sz="4800" b="1" dirty="0">
                <a:solidFill>
                  <a:srgbClr val="64DEC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F1C9091-C245-2854-CA13-1CD4C76C0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B0CBAEA-57A5-4080-271E-014709695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5" y="2714975"/>
            <a:ext cx="5734050" cy="364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7CDB91-55B5-CC43-4BA9-04940703043A}"/>
              </a:ext>
            </a:extLst>
          </p:cNvPr>
          <p:cNvSpPr txBox="1"/>
          <p:nvPr/>
        </p:nvSpPr>
        <p:spPr>
          <a:xfrm>
            <a:off x="1063487" y="1345179"/>
            <a:ext cx="89187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기존 결론의 문제점</a:t>
            </a:r>
            <a:br>
              <a:rPr lang="ko-KR" altLang="en-US" sz="2000" b="0" dirty="0"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</a:br>
            <a:endParaRPr lang="ko-KR" altLang="en-US" sz="2000" b="0" i="0" u="none" strike="noStrike" dirty="0">
              <a:solidFill>
                <a:srgbClr val="000000"/>
              </a:solidFill>
              <a:effectLst/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pPr rtl="0" fontAlgn="base"/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-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기존 결과는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feature vector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를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GMF, MLP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를 통해 계산 후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SNN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으로 변환</a:t>
            </a:r>
          </a:p>
          <a:p>
            <a:pPr rtl="0" fontAlgn="base"/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- feature vector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계산의 에너지 소모량을 집계하지 않음</a:t>
            </a:r>
          </a:p>
        </p:txBody>
      </p:sp>
    </p:spTree>
    <p:extLst>
      <p:ext uri="{BB962C8B-B14F-4D97-AF65-F5344CB8AC3E}">
        <p14:creationId xmlns:p14="http://schemas.microsoft.com/office/powerpoint/2010/main" val="3577681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C365F-E8AB-77C4-9DCE-152FB1EC3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B7BB7295-1090-D20F-AD50-615685CCB99B}"/>
              </a:ext>
            </a:extLst>
          </p:cNvPr>
          <p:cNvSpPr/>
          <p:nvPr/>
        </p:nvSpPr>
        <p:spPr>
          <a:xfrm flipV="1">
            <a:off x="557400" y="1001162"/>
            <a:ext cx="11077200" cy="18000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24204C3-DDED-03D5-02F0-C69BC1B749CA}"/>
              </a:ext>
            </a:extLst>
          </p:cNvPr>
          <p:cNvGrpSpPr/>
          <p:nvPr/>
        </p:nvGrpSpPr>
        <p:grpSpPr>
          <a:xfrm>
            <a:off x="945132" y="188165"/>
            <a:ext cx="4144985" cy="830997"/>
            <a:chOff x="3819245" y="188165"/>
            <a:chExt cx="4144985" cy="8309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9F2E0F0-3F6A-AD88-EFDB-67DAC8AE146D}"/>
                </a:ext>
              </a:extLst>
            </p:cNvPr>
            <p:cNvSpPr/>
            <p:nvPr/>
          </p:nvSpPr>
          <p:spPr>
            <a:xfrm>
              <a:off x="4766940" y="266506"/>
              <a:ext cx="319729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결론</a:t>
              </a:r>
              <a:endParaRPr lang="ko-KR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AC2BD16-7BB4-A8B7-16BE-E9A8F260F2D0}"/>
                </a:ext>
              </a:extLst>
            </p:cNvPr>
            <p:cNvSpPr txBox="1"/>
            <p:nvPr/>
          </p:nvSpPr>
          <p:spPr>
            <a:xfrm>
              <a:off x="3819245" y="188165"/>
              <a:ext cx="94769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08</a:t>
              </a:r>
              <a:endParaRPr lang="ko-KR" altLang="en-US" sz="4800" b="1" dirty="0">
                <a:solidFill>
                  <a:srgbClr val="64DEC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5A25BA8-4AB3-423C-5F1B-F2A050E55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34F2ABF-70A0-9F37-4199-AE6A24CB4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5" y="2905319"/>
            <a:ext cx="5734050" cy="368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DEBD39-417A-BDD7-CF0E-230FD21CC456}"/>
              </a:ext>
            </a:extLst>
          </p:cNvPr>
          <p:cNvSpPr txBox="1"/>
          <p:nvPr/>
        </p:nvSpPr>
        <p:spPr>
          <a:xfrm>
            <a:off x="1126933" y="1146632"/>
            <a:ext cx="975260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기존 결론의 수정</a:t>
            </a:r>
            <a:br>
              <a:rPr lang="ko-KR" altLang="en-US" sz="2000" b="0" dirty="0"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</a:br>
            <a:endParaRPr lang="ko-KR" altLang="en-US" sz="2000" b="0" i="0" u="none" strike="noStrike" dirty="0">
              <a:solidFill>
                <a:srgbClr val="000000"/>
              </a:solidFill>
              <a:effectLst/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pPr rtl="0" fontAlgn="base"/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- feature vector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계산의 에너지 소모량 집계 및 추가</a:t>
            </a:r>
          </a:p>
          <a:p>
            <a:pPr rtl="0" fontAlgn="base"/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-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결론적으로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feature vector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를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GMF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와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MLP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로 계산한 후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SNN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으로 변환하는 방식 사용 시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SNN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과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NCF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의 정확도와 에너지 효율 둘 다 차이가 나지 않음</a:t>
            </a:r>
          </a:p>
        </p:txBody>
      </p:sp>
    </p:spTree>
    <p:extLst>
      <p:ext uri="{BB962C8B-B14F-4D97-AF65-F5344CB8AC3E}">
        <p14:creationId xmlns:p14="http://schemas.microsoft.com/office/powerpoint/2010/main" val="524555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B5FA-C8F4-508D-1568-FBFF74BF9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9AA98227-4460-4DEB-4BC8-E97ACDEE1350}"/>
              </a:ext>
            </a:extLst>
          </p:cNvPr>
          <p:cNvSpPr/>
          <p:nvPr/>
        </p:nvSpPr>
        <p:spPr>
          <a:xfrm flipV="1">
            <a:off x="557400" y="1001162"/>
            <a:ext cx="11077200" cy="18000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57D55F2-C1B4-B292-D47F-DE831AD90F4E}"/>
              </a:ext>
            </a:extLst>
          </p:cNvPr>
          <p:cNvGrpSpPr/>
          <p:nvPr/>
        </p:nvGrpSpPr>
        <p:grpSpPr>
          <a:xfrm>
            <a:off x="945132" y="188165"/>
            <a:ext cx="4144985" cy="830997"/>
            <a:chOff x="3819245" y="188165"/>
            <a:chExt cx="4144985" cy="8309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19B96CE-EDF8-A8CE-4AEB-E076ED105184}"/>
                </a:ext>
              </a:extLst>
            </p:cNvPr>
            <p:cNvSpPr/>
            <p:nvPr/>
          </p:nvSpPr>
          <p:spPr>
            <a:xfrm>
              <a:off x="4766940" y="266506"/>
              <a:ext cx="319729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결론</a:t>
              </a:r>
              <a:endParaRPr lang="ko-KR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31C6D6A-A473-5838-534C-BAA1A00DE988}"/>
                </a:ext>
              </a:extLst>
            </p:cNvPr>
            <p:cNvSpPr txBox="1"/>
            <p:nvPr/>
          </p:nvSpPr>
          <p:spPr>
            <a:xfrm>
              <a:off x="3819245" y="188165"/>
              <a:ext cx="94769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08</a:t>
              </a:r>
              <a:endParaRPr lang="ko-KR" altLang="en-US" sz="4800" b="1" dirty="0">
                <a:solidFill>
                  <a:srgbClr val="64DEC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1E7E73B-3A70-03DB-85ED-4A123CF97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813804-7ADD-FDA8-400D-97621175AB84}"/>
              </a:ext>
            </a:extLst>
          </p:cNvPr>
          <p:cNvSpPr txBox="1"/>
          <p:nvPr/>
        </p:nvSpPr>
        <p:spPr>
          <a:xfrm>
            <a:off x="729678" y="1765549"/>
            <a:ext cx="10415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SNN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을 통한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feature vector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계산 및 추론</a:t>
            </a:r>
            <a:br>
              <a:rPr lang="ko-KR" altLang="en-US" sz="2000" b="0" dirty="0"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</a:br>
            <a:endParaRPr lang="ko-KR" altLang="en-US" sz="2000" b="0" i="0" u="none" strike="noStrike" dirty="0">
              <a:solidFill>
                <a:srgbClr val="000000"/>
              </a:solidFill>
              <a:effectLst/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  <a:p>
            <a:pPr rtl="0" fontAlgn="base"/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-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가중치 로드 후 바로 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SNN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으로 변환</a:t>
            </a:r>
          </a:p>
          <a:p>
            <a:pPr rtl="0" fontAlgn="base"/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- feature vector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계산을 포함한 추론 과정이 </a:t>
            </a:r>
            <a:r>
              <a:rPr lang="ko-KR" altLang="en-US" sz="2000" b="0" i="0" u="none" strike="noStrike" dirty="0" err="1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뉴로모픽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칩에서의 동작을 가정할 수 있도록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즉 </a:t>
            </a:r>
            <a:r>
              <a:rPr lang="ko-KR" altLang="en-US" sz="2000" b="0" i="0" u="none" strike="noStrike" dirty="0" err="1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뉴로모픽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 칩에서 요구하는 구조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(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그래프 형태로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뉴런 하나가 하드웨어의 코어 하나에 매핑</a:t>
            </a:r>
            <a: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)</a:t>
            </a:r>
            <a:r>
              <a:rPr lang="ko-KR" altLang="en-US" sz="2000" b="0" i="0" u="none" strike="noStrike" dirty="0">
                <a:solidFill>
                  <a:srgbClr val="000000"/>
                </a:solidFill>
                <a:effectLst/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에 맞도록 기존 코드 수정</a:t>
            </a:r>
            <a:endParaRPr lang="en-US" altLang="ko-KR" sz="2000" b="0" i="0" u="none" strike="noStrike" dirty="0">
              <a:solidFill>
                <a:srgbClr val="000000"/>
              </a:solidFill>
              <a:effectLst/>
              <a:latin typeface="210 옴니고딕 025" panose="02020603020101020101" pitchFamily="18" charset="-127"/>
              <a:ea typeface="210 옴니고딕 025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193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1D0C8-E59A-10BE-A0A5-194227E36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06722845-72A3-A12E-2B81-AD87B1628DAD}"/>
              </a:ext>
            </a:extLst>
          </p:cNvPr>
          <p:cNvSpPr/>
          <p:nvPr/>
        </p:nvSpPr>
        <p:spPr>
          <a:xfrm flipV="1">
            <a:off x="557400" y="1001162"/>
            <a:ext cx="11077200" cy="18000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3AE24C7-F75D-1AD1-EE96-CE532E0A7E17}"/>
              </a:ext>
            </a:extLst>
          </p:cNvPr>
          <p:cNvGrpSpPr/>
          <p:nvPr/>
        </p:nvGrpSpPr>
        <p:grpSpPr>
          <a:xfrm>
            <a:off x="945132" y="188165"/>
            <a:ext cx="4144985" cy="830997"/>
            <a:chOff x="3819245" y="188165"/>
            <a:chExt cx="4144985" cy="83099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4F192CB-BB50-6DB8-1AEC-5E1B2823190B}"/>
                </a:ext>
              </a:extLst>
            </p:cNvPr>
            <p:cNvSpPr/>
            <p:nvPr/>
          </p:nvSpPr>
          <p:spPr>
            <a:xfrm>
              <a:off x="4766940" y="266506"/>
              <a:ext cx="319729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결론</a:t>
              </a:r>
              <a:endParaRPr lang="ko-KR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Light" panose="00000300000000000000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6EC4389-5AD5-8CDA-251B-DF59F206DA21}"/>
                </a:ext>
              </a:extLst>
            </p:cNvPr>
            <p:cNvSpPr txBox="1"/>
            <p:nvPr/>
          </p:nvSpPr>
          <p:spPr>
            <a:xfrm>
              <a:off x="3819245" y="188165"/>
              <a:ext cx="94769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dirty="0">
                  <a:solidFill>
                    <a:srgbClr val="64DECF"/>
                  </a:solidFill>
                  <a:latin typeface="210 옴니고딕 025" panose="02020603020101020101" pitchFamily="18" charset="-127"/>
                  <a:ea typeface="210 옴니고딕 025" panose="02020603020101020101" pitchFamily="18" charset="-127"/>
                  <a:cs typeface="KoPubWorld돋움체 Bold" panose="00000800000000000000" pitchFamily="2" charset="-127"/>
                </a:rPr>
                <a:t>08</a:t>
              </a:r>
              <a:endParaRPr lang="ko-KR" altLang="en-US" sz="4800" b="1" dirty="0">
                <a:solidFill>
                  <a:srgbClr val="64DECF"/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Bold" panose="00000800000000000000" pitchFamily="2" charset="-127"/>
              </a:endParaRPr>
            </a:p>
          </p:txBody>
        </p: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026DD3D-C78D-B2F1-E7A5-B9C0EC2BA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0BDF14-415C-6C08-A447-1584E982A027}"/>
              </a:ext>
            </a:extLst>
          </p:cNvPr>
          <p:cNvSpPr txBox="1"/>
          <p:nvPr/>
        </p:nvSpPr>
        <p:spPr>
          <a:xfrm>
            <a:off x="769435" y="1478216"/>
            <a:ext cx="10415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SNN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을 추천시스템에 적용하였을 때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,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기존의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ANN 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방식에 비해 정확도는 낮고 에너지 효율은 높은 </a:t>
            </a:r>
            <a:r>
              <a:rPr lang="en-US" altLang="ko-KR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trade-off</a:t>
            </a:r>
            <a:r>
              <a:rPr lang="ko-KR" altLang="en-US" sz="2000" dirty="0">
                <a:latin typeface="210 옴니고딕 025" panose="02020603020101020101" pitchFamily="18" charset="-127"/>
                <a:ea typeface="210 옴니고딕 025" panose="02020603020101020101" pitchFamily="18" charset="-127"/>
              </a:rPr>
              <a:t>가 존재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5C3056-EBA3-7276-A3B3-73426C47F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119" y="2381079"/>
            <a:ext cx="6903761" cy="3807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1102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D9D9645-2F2B-4BB1-B5BA-17C241E6CFC2}"/>
              </a:ext>
            </a:extLst>
          </p:cNvPr>
          <p:cNvSpPr/>
          <p:nvPr/>
        </p:nvSpPr>
        <p:spPr>
          <a:xfrm>
            <a:off x="0" y="0"/>
            <a:ext cx="12213771" cy="298580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D5C53C-9B19-415C-B6B8-94AEDDE075AC}"/>
              </a:ext>
            </a:extLst>
          </p:cNvPr>
          <p:cNvSpPr/>
          <p:nvPr/>
        </p:nvSpPr>
        <p:spPr>
          <a:xfrm>
            <a:off x="0" y="6559420"/>
            <a:ext cx="12213771" cy="298580"/>
          </a:xfrm>
          <a:prstGeom prst="rect">
            <a:avLst/>
          </a:prstGeom>
          <a:solidFill>
            <a:srgbClr val="64DE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84F941-B1A5-42ED-AD78-B0F57A275C9B}"/>
              </a:ext>
            </a:extLst>
          </p:cNvPr>
          <p:cNvSpPr txBox="1"/>
          <p:nvPr/>
        </p:nvSpPr>
        <p:spPr>
          <a:xfrm>
            <a:off x="4542529" y="3125887"/>
            <a:ext cx="31069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Bold" panose="00000800000000000000" pitchFamily="2" charset="-127"/>
              </a:rPr>
              <a:t>감사합니다</a:t>
            </a:r>
            <a:r>
              <a:rPr lang="en-US" altLang="ko-KR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210 옴니고딕 025" panose="02020603020101020101" pitchFamily="18" charset="-127"/>
                <a:ea typeface="210 옴니고딕 025" panose="02020603020101020101" pitchFamily="18" charset="-127"/>
                <a:cs typeface="KoPubWorld돋움체 Bold" panose="00000800000000000000" pitchFamily="2" charset="-127"/>
              </a:rPr>
              <a:t>.</a:t>
            </a:r>
            <a:endParaRPr lang="ko-KR" altLang="en-US" sz="4400" dirty="0">
              <a:solidFill>
                <a:schemeClr val="tx1">
                  <a:lumMod val="65000"/>
                  <a:lumOff val="35000"/>
                </a:schemeClr>
              </a:solidFill>
              <a:latin typeface="210 옴니고딕 025" panose="02020603020101020101" pitchFamily="18" charset="-127"/>
              <a:ea typeface="210 옴니고딕 025" panose="02020603020101020101" pitchFamily="18" charset="-127"/>
              <a:cs typeface="KoPubWorld돋움체 Light" panose="00000300000000000000" pitchFamily="2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AC3C1B1-1600-83D6-FA60-196D1955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6F26-7B99-433C-A969-9457AF99F1D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240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7AD7F6353BE6547B5D3F3485926A0C9" ma:contentTypeVersion="5" ma:contentTypeDescription="새 문서를 만듭니다." ma:contentTypeScope="" ma:versionID="cec69b6bf94e47225feac86e6321a855">
  <xsd:schema xmlns:xsd="http://www.w3.org/2001/XMLSchema" xmlns:xs="http://www.w3.org/2001/XMLSchema" xmlns:p="http://schemas.microsoft.com/office/2006/metadata/properties" xmlns:ns3="d8e42758-fe06-4514-b959-91bd0c265d33" targetNamespace="http://schemas.microsoft.com/office/2006/metadata/properties" ma:root="true" ma:fieldsID="6603b4ff0fbeea2770cfe6406cdb67b9" ns3:_="">
    <xsd:import namespace="d8e42758-fe06-4514-b959-91bd0c265d3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e42758-fe06-4514-b959-91bd0c265d3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B20973-36B0-44BA-BC4B-73E099B396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260725-FDB3-40B4-B0F7-37688FE7438A}">
  <ds:schemaRefs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d8e42758-fe06-4514-b959-91bd0c265d33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79C9AD2-8892-4E2F-9BD8-12901A5BA3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e42758-fe06-4514-b959-91bd0c265d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1024</Words>
  <Application>Microsoft Office PowerPoint</Application>
  <PresentationFormat>와이드스크린</PresentationFormat>
  <Paragraphs>180</Paragraphs>
  <Slides>19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6" baseType="lpstr">
      <vt:lpstr>KoPubWorld돋움체 Bold</vt:lpstr>
      <vt:lpstr>Arial</vt:lpstr>
      <vt:lpstr>210 옴니고딕 025</vt:lpstr>
      <vt:lpstr>맑은 고딕</vt:lpstr>
      <vt:lpstr>KoPubWorld돋움체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서 유진</dc:creator>
  <cp:lastModifiedBy>이승현</cp:lastModifiedBy>
  <cp:revision>20</cp:revision>
  <dcterms:created xsi:type="dcterms:W3CDTF">2020-01-03T14:16:53Z</dcterms:created>
  <dcterms:modified xsi:type="dcterms:W3CDTF">2025-10-30T16:19:34Z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0x010100D7AD7F6353BE6547B5D3F3485926A0C9</vt:lpwstr>
  </property>
</Properties>
</file>